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99FF"/>
    <a:srgbClr val="8C85DE"/>
    <a:srgbClr val="18C2B5"/>
    <a:srgbClr val="221E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776" autoAdjust="0"/>
  </p:normalViewPr>
  <p:slideViewPr>
    <p:cSldViewPr snapToGrid="0">
      <p:cViewPr varScale="1">
        <p:scale>
          <a:sx n="98" d="100"/>
          <a:sy n="98" d="100"/>
        </p:scale>
        <p:origin x="5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Neural</c:v>
          </c:tx>
          <c:spPr>
            <a:solidFill>
              <a:srgbClr val="7C5CFC"/>
            </a:solidFill>
          </c:spPr>
          <c:invertIfNegative val="1"/>
          <c:cat>
            <c:strLit>
              <c:ptCount val="4"/>
              <c:pt idx="0">
                <c:v>Line</c:v>
              </c:pt>
              <c:pt idx="1">
                <c:v>Ring</c:v>
              </c:pt>
              <c:pt idx="2">
                <c:v>Star</c:v>
              </c:pt>
              <c:pt idx="3">
                <c:v>Mesh</c:v>
              </c:pt>
            </c:strLit>
          </c:cat>
          <c:val>
            <c:numLit>
              <c:formatCode>0%</c:formatCode>
              <c:ptCount val="4"/>
              <c:pt idx="0">
                <c:v>0.74639999999999995</c:v>
              </c:pt>
              <c:pt idx="1">
                <c:v>0.74639999999999995</c:v>
              </c:pt>
              <c:pt idx="2">
                <c:v>0.74960000000000004</c:v>
              </c:pt>
              <c:pt idx="3">
                <c:v>0.75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F46-49D6-B44E-6232F3981258}"/>
            </c:ext>
          </c:extLst>
        </c:ser>
        <c:ser>
          <c:idx val="1"/>
          <c:order val="1"/>
          <c:tx>
            <c:v>LRU</c:v>
          </c:tx>
          <c:spPr>
            <a:solidFill>
              <a:srgbClr val="18C2B5"/>
            </a:solidFill>
          </c:spPr>
          <c:invertIfNegative val="1"/>
          <c:cat>
            <c:strLit>
              <c:ptCount val="4"/>
              <c:pt idx="0">
                <c:v>Line</c:v>
              </c:pt>
              <c:pt idx="1">
                <c:v>Ring</c:v>
              </c:pt>
              <c:pt idx="2">
                <c:v>Star</c:v>
              </c:pt>
              <c:pt idx="3">
                <c:v>Mesh</c:v>
              </c:pt>
            </c:strLit>
          </c:cat>
          <c:val>
            <c:numLit>
              <c:formatCode>0%</c:formatCode>
              <c:ptCount val="4"/>
              <c:pt idx="0">
                <c:v>0.70320000000000005</c:v>
              </c:pt>
              <c:pt idx="1">
                <c:v>0.72040000000000004</c:v>
              </c:pt>
              <c:pt idx="2">
                <c:v>0.71240000000000003</c:v>
              </c:pt>
              <c:pt idx="3">
                <c:v>0.73719999999999997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F46-49D6-B44E-6232F3981258}"/>
            </c:ext>
          </c:extLst>
        </c:ser>
        <c:ser>
          <c:idx val="2"/>
          <c:order val="2"/>
          <c:tx>
            <c:v>LFU</c:v>
          </c:tx>
          <c:spPr>
            <a:solidFill>
              <a:srgbClr val="F59E0B"/>
            </a:solidFill>
          </c:spPr>
          <c:invertIfNegative val="1"/>
          <c:cat>
            <c:strLit>
              <c:ptCount val="4"/>
              <c:pt idx="0">
                <c:v>Line</c:v>
              </c:pt>
              <c:pt idx="1">
                <c:v>Ring</c:v>
              </c:pt>
              <c:pt idx="2">
                <c:v>Star</c:v>
              </c:pt>
              <c:pt idx="3">
                <c:v>Mesh</c:v>
              </c:pt>
            </c:strLit>
          </c:cat>
          <c:val>
            <c:numLit>
              <c:formatCode>0%</c:formatCode>
              <c:ptCount val="4"/>
              <c:pt idx="0">
                <c:v>0.624</c:v>
              </c:pt>
              <c:pt idx="1">
                <c:v>0.58079999999999998</c:v>
              </c:pt>
              <c:pt idx="2">
                <c:v>0.55479999999999996</c:v>
              </c:pt>
              <c:pt idx="3">
                <c:v>0.54879999999999995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CF46-49D6-B44E-6232F3981258}"/>
            </c:ext>
          </c:extLst>
        </c:ser>
        <c:ser>
          <c:idx val="3"/>
          <c:order val="3"/>
          <c:tx>
            <c:v>FIFO</c:v>
          </c:tx>
          <c:spPr>
            <a:solidFill>
              <a:srgbClr val="22C55E"/>
            </a:solidFill>
          </c:spPr>
          <c:invertIfNegative val="1"/>
          <c:cat>
            <c:strLit>
              <c:ptCount val="4"/>
              <c:pt idx="0">
                <c:v>Line</c:v>
              </c:pt>
              <c:pt idx="1">
                <c:v>Ring</c:v>
              </c:pt>
              <c:pt idx="2">
                <c:v>Star</c:v>
              </c:pt>
              <c:pt idx="3">
                <c:v>Mesh</c:v>
              </c:pt>
            </c:strLit>
          </c:cat>
          <c:val>
            <c:numLit>
              <c:formatCode>0%</c:formatCode>
              <c:ptCount val="4"/>
              <c:pt idx="0">
                <c:v>0.6532</c:v>
              </c:pt>
              <c:pt idx="1">
                <c:v>0.68799999999999994</c:v>
              </c:pt>
              <c:pt idx="2">
                <c:v>0.67079999999999995</c:v>
              </c:pt>
              <c:pt idx="3">
                <c:v>0.70920000000000005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CF46-49D6-B44E-6232F3981258}"/>
            </c:ext>
          </c:extLst>
        </c:ser>
        <c:ser>
          <c:idx val="4"/>
          <c:order val="4"/>
          <c:tx>
            <c:v>Random</c:v>
          </c:tx>
          <c:spPr>
            <a:solidFill>
              <a:srgbClr val="94A3B8"/>
            </a:solidFill>
          </c:spPr>
          <c:invertIfNegative val="1"/>
          <c:cat>
            <c:strLit>
              <c:ptCount val="4"/>
              <c:pt idx="0">
                <c:v>Line</c:v>
              </c:pt>
              <c:pt idx="1">
                <c:v>Ring</c:v>
              </c:pt>
              <c:pt idx="2">
                <c:v>Star</c:v>
              </c:pt>
              <c:pt idx="3">
                <c:v>Mesh</c:v>
              </c:pt>
            </c:strLit>
          </c:cat>
          <c:val>
            <c:numLit>
              <c:formatCode>0%</c:formatCode>
              <c:ptCount val="4"/>
              <c:pt idx="0">
                <c:v>0.70640000000000003</c:v>
              </c:pt>
              <c:pt idx="1">
                <c:v>0.70240000000000002</c:v>
              </c:pt>
              <c:pt idx="2">
                <c:v>0.69679999999999997</c:v>
              </c:pt>
              <c:pt idx="3">
                <c:v>0.69279999999999997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CF46-49D6-B44E-6232F39812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0E8"/>
            </a:solidFill>
            <a:prstDash val="solid"/>
          </a:ln>
        </c:spPr>
        <c:txPr>
          <a:bodyPr anchorCtr="1"/>
          <a:lstStyle/>
          <a:p>
            <a:pPr>
              <a:defRPr sz="1200" b="1">
                <a:solidFill>
                  <a:srgbClr val="17233A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8"/>
          <c:min val="0.5"/>
        </c:scaling>
        <c:delete val="0"/>
        <c:axPos val="l"/>
        <c:majorGridlines>
          <c:spPr>
            <a:ln w="9525">
              <a:solidFill>
                <a:srgbClr val="D7E0E8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7E0E8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4B5B70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05"/>
      </c:valAx>
      <c:spPr>
        <a:solidFill>
          <a:srgbClr val="F2F7FA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125" b="1">
              <a:solidFill>
                <a:srgbClr val="17233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2F7FA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5E7B5-7BE2-B408-109A-19B0E87D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43556-2235-ECFB-C20A-975B9C9EE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AB175-37F3-9A5E-E39D-7D895FE02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593FE-0F34-174C-AE3E-B2B4AB3CC1E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0910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A191E84-7B25-45F7-BBBE-B17C847C41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571CD74-F0C2-41F1-93B6-EC9FC8117866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3333750" cy="3333750"/>
          </a:xfrm>
          <a:prstGeom prst="ellipse">
            <a:avLst/>
          </a:prstGeom>
          <a:solidFill>
            <a:srgbClr val="0B203B"/>
          </a:solidFill>
          <a:ln w="19050">
            <a:solidFill>
              <a:srgbClr val="29445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C35AEC-0D50-4D40-9683-F06ED8250FE3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B56B7D-FEE4-480D-8C5B-5D9713AC36C6}"/>
              </a:ext>
            </a:extLst>
          </p:cNvPr>
          <p:cNvSpPr>
            <a:spLocks noGrp="1"/>
          </p:cNvSpPr>
          <p:nvPr/>
        </p:nvSpPr>
        <p:spPr>
          <a:xfrm>
            <a:off x="590550" y="1383152"/>
            <a:ext cx="64770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48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48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Proposed </a:t>
            </a:r>
            <a:r>
              <a:rPr sz="480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Neural Cache</a:t>
            </a:r>
            <a:r>
              <a:rPr lang="en-US" sz="480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</a:t>
            </a:r>
            <a:r>
              <a:rPr sz="480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Replacement </a:t>
            </a:r>
            <a:r>
              <a:rPr lang="en-US" sz="480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Policy </a:t>
            </a:r>
            <a:r>
              <a:rPr sz="480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for NDN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C53FDE62-8EAB-4C9D-98D1-1371C0E94152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5924550" cy="0"/>
          </a:xfrm>
          <a:prstGeom prst="line">
            <a:avLst/>
          </a:prstGeom>
          <a:noFill/>
          <a:ln w="14288">
            <a:solidFill>
              <a:srgbClr val="29445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9F4BEA-B129-482A-B701-CD379EB74556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6541040" cy="733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buNone/>
              <a:defRPr sz="16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Amin </a:t>
            </a:r>
            <a:r>
              <a:rPr sz="1650" b="1" i="0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Aghakasiri</a:t>
            </a:r>
            <a:r>
              <a:rPr sz="16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6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810101381</a:t>
            </a:r>
          </a:p>
          <a:p>
            <a:pPr algn="l">
              <a:lnSpc>
                <a:spcPct val="150000"/>
              </a:lnSpc>
              <a:buNone/>
              <a:defRPr sz="16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Babak Hosseini Mohtasham</a:t>
            </a:r>
            <a:r>
              <a:rPr lang="en-US" sz="16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810101408</a:t>
            </a:r>
            <a:endParaRPr sz="1650" b="1" i="0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51FB0C-C586-4C18-82A7-C588B0DB0AB3}"/>
              </a:ext>
            </a:extLst>
          </p:cNvPr>
          <p:cNvSpPr>
            <a:spLocks noGrp="1"/>
          </p:cNvSpPr>
          <p:nvPr/>
        </p:nvSpPr>
        <p:spPr>
          <a:xfrm>
            <a:off x="647700" y="4943476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B7C5D6"/>
                </a:solidFill>
                <a:latin typeface="Aptos"/>
                <a:ea typeface="Aptos"/>
                <a:cs typeface="Aptos"/>
              </a:rPr>
              <a:t>Instructor: Mohammad Reza </a:t>
            </a:r>
            <a:r>
              <a:rPr sz="1425" b="0" i="0" dirty="0" err="1">
                <a:solidFill>
                  <a:srgbClr val="B7C5D6"/>
                </a:solidFill>
                <a:latin typeface="Aptos"/>
                <a:ea typeface="Aptos"/>
                <a:cs typeface="Aptos"/>
              </a:rPr>
              <a:t>Shakournia</a:t>
            </a:r>
            <a:endParaRPr sz="1425" b="0" i="0" dirty="0">
              <a:solidFill>
                <a:srgbClr val="B7C5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77637C-F94B-42FA-B5E2-65B05048D7FD}"/>
              </a:ext>
            </a:extLst>
          </p:cNvPr>
          <p:cNvSpPr>
            <a:spLocks noGrp="1"/>
          </p:cNvSpPr>
          <p:nvPr/>
        </p:nvSpPr>
        <p:spPr>
          <a:xfrm>
            <a:off x="647700" y="5276852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B7C5D6"/>
                </a:solidFill>
                <a:latin typeface="Aptos"/>
                <a:ea typeface="Aptos"/>
                <a:cs typeface="Aptos"/>
              </a:rPr>
              <a:t>University of Tehran  ·  Summer 2026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DC4D72-4014-41E1-BB4D-B230DB7ED2E7}"/>
              </a:ext>
            </a:extLst>
          </p:cNvPr>
          <p:cNvSpPr>
            <a:spLocks noGrp="1"/>
          </p:cNvSpPr>
          <p:nvPr/>
        </p:nvSpPr>
        <p:spPr>
          <a:xfrm>
            <a:off x="11163300" y="63341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3486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F939BC-BD8F-B9E8-7166-CF7604D9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7CD4AE43-DDE9-CAEB-2B64-9B2EB6B36F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167F6A-7395-927E-D2B2-04E5D0844613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899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EC3BBC-90D9-0CF4-1108-2BFDA605E4D3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kumimoji="0" lang="en-US" sz="34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The overall pipeline</a:t>
            </a:r>
            <a:endParaRPr kumimoji="0" sz="3450" b="1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09022-C229-8E39-96C4-D2579E94ADAF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A899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0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A899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2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A899FF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D8F03CB-A392-E1FD-C0AA-2CC6A5599B68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B9D9BC-03F7-CF68-CBD8-37525CDE9C0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1461F16-0993-D0A0-A559-A67CEBB7712B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7C5CFC"/>
            </a:solidFill>
            <a:prstDash val="solid"/>
          </a:ln>
        </p:spPr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1BED9DA8-97A1-8F71-8752-6179D1D07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25" y="1179716"/>
            <a:ext cx="9467851" cy="532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10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A1315FB-F45E-4967-A3E8-F436CE0C23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6EBC1C-7180-4AED-8033-7368959D9C90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B41EDD-61E6-4BA3-9927-5520957D4D8C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IP vs NDN</a:t>
            </a:r>
            <a:endParaRPr sz="3450" b="1" i="0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47DB0A-7B5A-4758-8292-FDA6C2951E2A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3</a:t>
            </a:r>
            <a:endParaRPr sz="1500" b="1" i="0" dirty="0">
              <a:solidFill>
                <a:srgbClr val="A899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8A4EEF9-8E62-4080-B76C-CAE66B9BDFEF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BBB5B6-A6EA-4540-A531-262DF4E169E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1DABAB3-A159-4163-9F9B-A24412F60053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7C5CF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0712B7-F09D-4A51-BB0F-842A61A6180D}"/>
              </a:ext>
            </a:extLst>
          </p:cNvPr>
          <p:cNvSpPr>
            <a:spLocks noGrp="1"/>
          </p:cNvSpPr>
          <p:nvPr/>
        </p:nvSpPr>
        <p:spPr>
          <a:xfrm>
            <a:off x="704850" y="1381125"/>
            <a:ext cx="95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C5C23A-4AF8-48CA-93E9-0BBA5CB19683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Where is the server?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0D9237-2F50-49EC-9A5E-B3C269A6AF3C}"/>
              </a:ext>
            </a:extLst>
          </p:cNvPr>
          <p:cNvSpPr>
            <a:spLocks noGrp="1"/>
          </p:cNvSpPr>
          <p:nvPr/>
        </p:nvSpPr>
        <p:spPr>
          <a:xfrm>
            <a:off x="704850" y="22764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The destination is an address.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3FFCD6-176D-4489-A44D-53AE3F602259}"/>
              </a:ext>
            </a:extLst>
          </p:cNvPr>
          <p:cNvSpPr>
            <a:spLocks noGrp="1"/>
          </p:cNvSpPr>
          <p:nvPr/>
        </p:nvSpPr>
        <p:spPr>
          <a:xfrm>
            <a:off x="565150" y="3219450"/>
            <a:ext cx="552450" cy="552450"/>
          </a:xfrm>
          <a:prstGeom prst="ellipse">
            <a:avLst/>
          </a:prstGeom>
          <a:solidFill>
            <a:srgbClr val="18C2B5"/>
          </a:solidFill>
          <a:ln w="19050">
            <a:solidFill>
              <a:srgbClr val="F8FA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9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85531E8-4AD9-4B35-9F9B-6C42C1F7E25A}"/>
              </a:ext>
            </a:extLst>
          </p:cNvPr>
          <p:cNvSpPr>
            <a:spLocks noGrp="1"/>
          </p:cNvSpPr>
          <p:nvPr/>
        </p:nvSpPr>
        <p:spPr>
          <a:xfrm>
            <a:off x="1974850" y="3181350"/>
            <a:ext cx="1828800" cy="628650"/>
          </a:xfrm>
          <a:prstGeom prst="roundRect">
            <a:avLst>
              <a:gd name="adj" fmla="val 12121"/>
            </a:avLst>
          </a:prstGeom>
          <a:solidFill>
            <a:srgbClr val="102A4C"/>
          </a:solidFill>
          <a:ln w="9525">
            <a:solidFill>
              <a:srgbClr val="94A3B8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192.0.2.42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475047-09EE-4BB6-B0F7-E0906621E745}"/>
              </a:ext>
            </a:extLst>
          </p:cNvPr>
          <p:cNvSpPr>
            <a:spLocks noGrp="1"/>
          </p:cNvSpPr>
          <p:nvPr/>
        </p:nvSpPr>
        <p:spPr>
          <a:xfrm>
            <a:off x="4508500" y="3190875"/>
            <a:ext cx="1066800" cy="609600"/>
          </a:xfrm>
          <a:prstGeom prst="roundRect">
            <a:avLst>
              <a:gd name="adj" fmla="val 12500"/>
            </a:avLst>
          </a:prstGeom>
          <a:solidFill>
            <a:srgbClr val="7C5CFC"/>
          </a:solidFill>
          <a:ln w="19050">
            <a:solidFill>
              <a:srgbClr val="A899F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FE3706C-6A79-430B-ADDD-DEB66EE4C666}"/>
              </a:ext>
            </a:extLst>
          </p:cNvPr>
          <p:cNvSpPr>
            <a:spLocks noGrp="1"/>
          </p:cNvSpPr>
          <p:nvPr/>
        </p:nvSpPr>
        <p:spPr>
          <a:xfrm>
            <a:off x="1174750" y="3390900"/>
            <a:ext cx="762000" cy="17145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A860A42-51E2-465F-A1C2-CF7BF8E8DB2E}"/>
              </a:ext>
            </a:extLst>
          </p:cNvPr>
          <p:cNvSpPr>
            <a:spLocks noGrp="1"/>
          </p:cNvSpPr>
          <p:nvPr/>
        </p:nvSpPr>
        <p:spPr>
          <a:xfrm>
            <a:off x="3841750" y="3390900"/>
            <a:ext cx="628650" cy="17145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959FF3-3572-4C25-A13E-27637F91C912}"/>
              </a:ext>
            </a:extLst>
          </p:cNvPr>
          <p:cNvSpPr>
            <a:spLocks noGrp="1"/>
          </p:cNvSpPr>
          <p:nvPr/>
        </p:nvSpPr>
        <p:spPr>
          <a:xfrm>
            <a:off x="1784350" y="41529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routing toward a host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C9C30B45-7904-4755-A5ED-828E90C19CDB}"/>
              </a:ext>
            </a:extLst>
          </p:cNvPr>
          <p:cNvSpPr>
            <a:spLocks noGrp="1"/>
          </p:cNvSpPr>
          <p:nvPr/>
        </p:nvSpPr>
        <p:spPr>
          <a:xfrm>
            <a:off x="5962650" y="1390650"/>
            <a:ext cx="0" cy="4714875"/>
          </a:xfrm>
          <a:prstGeom prst="line">
            <a:avLst/>
          </a:prstGeom>
          <a:noFill/>
          <a:ln w="19050">
            <a:solidFill>
              <a:srgbClr val="29445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E8F805-801F-4AEC-89B3-6FD8E6A785D4}"/>
              </a:ext>
            </a:extLst>
          </p:cNvPr>
          <p:cNvSpPr>
            <a:spLocks noGrp="1"/>
          </p:cNvSpPr>
          <p:nvPr/>
        </p:nvSpPr>
        <p:spPr>
          <a:xfrm>
            <a:off x="6438900" y="138112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NDN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807F68-13FC-4EFD-8717-EA57C4C49E64}"/>
              </a:ext>
            </a:extLst>
          </p:cNvPr>
          <p:cNvSpPr>
            <a:spLocks noGrp="1"/>
          </p:cNvSpPr>
          <p:nvPr/>
        </p:nvSpPr>
        <p:spPr>
          <a:xfrm>
            <a:off x="6438900" y="18097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is the content?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D8E9EA-3582-4E13-B205-B7C6447E9C22}"/>
              </a:ext>
            </a:extLst>
          </p:cNvPr>
          <p:cNvSpPr>
            <a:spLocks noGrp="1"/>
          </p:cNvSpPr>
          <p:nvPr/>
        </p:nvSpPr>
        <p:spPr>
          <a:xfrm>
            <a:off x="6438900" y="22764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The request carries a hierarchical Name.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8D1AE46-BF6B-4E91-9FD1-0953A5E585FD}"/>
              </a:ext>
            </a:extLst>
          </p:cNvPr>
          <p:cNvSpPr>
            <a:spLocks noGrp="1"/>
          </p:cNvSpPr>
          <p:nvPr/>
        </p:nvSpPr>
        <p:spPr>
          <a:xfrm>
            <a:off x="6438900" y="2724150"/>
            <a:ext cx="4933950" cy="495300"/>
          </a:xfrm>
          <a:prstGeom prst="roundRect">
            <a:avLst>
              <a:gd name="adj" fmla="val 15385"/>
            </a:avLst>
          </a:prstGeom>
          <a:solidFill>
            <a:srgbClr val="102A4C"/>
          </a:solidFill>
          <a:ln w="14288">
            <a:solidFill>
              <a:srgbClr val="7C5CFC"/>
            </a:solidFill>
            <a:prstDash val="solid"/>
          </a:ln>
        </p:spPr>
        <p:txBody>
          <a:bodyPr wrap="square" lIns="133350" tIns="76200" rIns="114300" bIns="7620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899FF"/>
                </a:solidFill>
                <a:latin typeface="Aptos"/>
                <a:ea typeface="Aptos"/>
                <a:cs typeface="Aptos"/>
              </a:rPr>
              <a:t>/dataset/item/category-03/000127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A4A829-F8DA-441C-A509-E44D42FC65E1}"/>
              </a:ext>
            </a:extLst>
          </p:cNvPr>
          <p:cNvSpPr>
            <a:spLocks noGrp="1"/>
          </p:cNvSpPr>
          <p:nvPr/>
        </p:nvSpPr>
        <p:spPr>
          <a:xfrm>
            <a:off x="6438900" y="3857625"/>
            <a:ext cx="552450" cy="552450"/>
          </a:xfrm>
          <a:prstGeom prst="ellipse">
            <a:avLst/>
          </a:prstGeom>
          <a:solidFill>
            <a:srgbClr val="18C2B5"/>
          </a:solidFill>
          <a:ln w="19050">
            <a:solidFill>
              <a:srgbClr val="F8FA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9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FA55F48-8627-462B-B05F-C7463821488B}"/>
              </a:ext>
            </a:extLst>
          </p:cNvPr>
          <p:cNvSpPr>
            <a:spLocks noGrp="1"/>
          </p:cNvSpPr>
          <p:nvPr/>
        </p:nvSpPr>
        <p:spPr>
          <a:xfrm>
            <a:off x="7486650" y="3876675"/>
            <a:ext cx="552450" cy="476250"/>
          </a:xfrm>
          <a:prstGeom prst="roundRect">
            <a:avLst>
              <a:gd name="adj" fmla="val 16000"/>
            </a:avLst>
          </a:prstGeom>
          <a:solidFill>
            <a:srgbClr val="143454"/>
          </a:solidFill>
          <a:ln w="14288">
            <a:solidFill>
              <a:srgbClr val="18C2B5"/>
            </a:solidFill>
            <a:prstDash val="solid"/>
          </a:ln>
        </p:spPr>
        <p:txBody>
          <a:bodyPr wrap="square" lIns="38100" tIns="38100" rIns="38100" bIns="15240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R1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532716F-37AF-4FD7-B5EE-EF9F91BBD43A}"/>
              </a:ext>
            </a:extLst>
          </p:cNvPr>
          <p:cNvSpPr>
            <a:spLocks noGrp="1"/>
          </p:cNvSpPr>
          <p:nvPr/>
        </p:nvSpPr>
        <p:spPr>
          <a:xfrm>
            <a:off x="7543800" y="4238625"/>
            <a:ext cx="127000" cy="57150"/>
          </a:xfrm>
          <a:prstGeom prst="roundRect">
            <a:avLst>
              <a:gd name="adj" fmla="val 16667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87EC529-C29C-41C2-9E98-E1AECA984847}"/>
              </a:ext>
            </a:extLst>
          </p:cNvPr>
          <p:cNvSpPr>
            <a:spLocks noGrp="1"/>
          </p:cNvSpPr>
          <p:nvPr/>
        </p:nvSpPr>
        <p:spPr>
          <a:xfrm>
            <a:off x="7699375" y="4238625"/>
            <a:ext cx="127000" cy="57150"/>
          </a:xfrm>
          <a:prstGeom prst="roundRect">
            <a:avLst>
              <a:gd name="adj" fmla="val 16667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0EACB1B-5019-4EB1-AEC6-767815869502}"/>
              </a:ext>
            </a:extLst>
          </p:cNvPr>
          <p:cNvSpPr>
            <a:spLocks noGrp="1"/>
          </p:cNvSpPr>
          <p:nvPr/>
        </p:nvSpPr>
        <p:spPr>
          <a:xfrm>
            <a:off x="7854950" y="4238625"/>
            <a:ext cx="127000" cy="57150"/>
          </a:xfrm>
          <a:prstGeom prst="roundRect">
            <a:avLst>
              <a:gd name="adj" fmla="val 16667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0BFD38C-2681-42B8-9A62-6CF82B537DB8}"/>
              </a:ext>
            </a:extLst>
          </p:cNvPr>
          <p:cNvSpPr>
            <a:spLocks noGrp="1"/>
          </p:cNvSpPr>
          <p:nvPr/>
        </p:nvSpPr>
        <p:spPr>
          <a:xfrm>
            <a:off x="8496300" y="3876675"/>
            <a:ext cx="552450" cy="476250"/>
          </a:xfrm>
          <a:prstGeom prst="roundRect">
            <a:avLst>
              <a:gd name="adj" fmla="val 16000"/>
            </a:avLst>
          </a:prstGeom>
          <a:solidFill>
            <a:srgbClr val="143454"/>
          </a:solidFill>
          <a:ln w="14288">
            <a:solidFill>
              <a:srgbClr val="18C2B5"/>
            </a:solidFill>
            <a:prstDash val="solid"/>
          </a:ln>
        </p:spPr>
        <p:txBody>
          <a:bodyPr wrap="square" lIns="38100" tIns="38100" rIns="38100" bIns="15240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B1BBA63-314D-45AA-826C-37E3A5DF0004}"/>
              </a:ext>
            </a:extLst>
          </p:cNvPr>
          <p:cNvSpPr>
            <a:spLocks noGrp="1"/>
          </p:cNvSpPr>
          <p:nvPr/>
        </p:nvSpPr>
        <p:spPr>
          <a:xfrm>
            <a:off x="8553450" y="4238625"/>
            <a:ext cx="127000" cy="57150"/>
          </a:xfrm>
          <a:prstGeom prst="roundRect">
            <a:avLst>
              <a:gd name="adj" fmla="val 16667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1CA6077-603B-4689-ABDD-E0FA43794117}"/>
              </a:ext>
            </a:extLst>
          </p:cNvPr>
          <p:cNvSpPr>
            <a:spLocks noGrp="1"/>
          </p:cNvSpPr>
          <p:nvPr/>
        </p:nvSpPr>
        <p:spPr>
          <a:xfrm>
            <a:off x="8709025" y="4238625"/>
            <a:ext cx="127000" cy="57150"/>
          </a:xfrm>
          <a:prstGeom prst="roundRect">
            <a:avLst>
              <a:gd name="adj" fmla="val 16667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927A5C9-B434-4C38-AD14-B3F9367D98B5}"/>
              </a:ext>
            </a:extLst>
          </p:cNvPr>
          <p:cNvSpPr>
            <a:spLocks noGrp="1"/>
          </p:cNvSpPr>
          <p:nvPr/>
        </p:nvSpPr>
        <p:spPr>
          <a:xfrm>
            <a:off x="8864600" y="4238625"/>
            <a:ext cx="127000" cy="57150"/>
          </a:xfrm>
          <a:prstGeom prst="roundRect">
            <a:avLst>
              <a:gd name="adj" fmla="val 16667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0F2CC3B-DFB7-435D-8E82-6AF34966228E}"/>
              </a:ext>
            </a:extLst>
          </p:cNvPr>
          <p:cNvSpPr>
            <a:spLocks noGrp="1"/>
          </p:cNvSpPr>
          <p:nvPr/>
        </p:nvSpPr>
        <p:spPr>
          <a:xfrm>
            <a:off x="10382250" y="3800475"/>
            <a:ext cx="1066800" cy="609600"/>
          </a:xfrm>
          <a:prstGeom prst="roundRect">
            <a:avLst>
              <a:gd name="adj" fmla="val 12500"/>
            </a:avLst>
          </a:prstGeom>
          <a:solidFill>
            <a:srgbClr val="7C5CFC"/>
          </a:solidFill>
          <a:ln w="19050">
            <a:solidFill>
              <a:srgbClr val="A899F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Producer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D04C740D-6DA7-459F-AD0C-40386C458F1C}"/>
              </a:ext>
            </a:extLst>
          </p:cNvPr>
          <p:cNvSpPr>
            <a:spLocks noGrp="1"/>
          </p:cNvSpPr>
          <p:nvPr/>
        </p:nvSpPr>
        <p:spPr>
          <a:xfrm>
            <a:off x="7029450" y="4019550"/>
            <a:ext cx="419100" cy="161925"/>
          </a:xfrm>
          <a:prstGeom prst="rightArrow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F298C93F-3EBB-4146-907A-44884A6D6494}"/>
              </a:ext>
            </a:extLst>
          </p:cNvPr>
          <p:cNvSpPr>
            <a:spLocks noGrp="1"/>
          </p:cNvSpPr>
          <p:nvPr/>
        </p:nvSpPr>
        <p:spPr>
          <a:xfrm>
            <a:off x="8077200" y="4019550"/>
            <a:ext cx="381000" cy="161925"/>
          </a:xfrm>
          <a:prstGeom prst="rightArrow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1B32DA4A-2F95-4830-8550-DB18F387FF6F}"/>
              </a:ext>
            </a:extLst>
          </p:cNvPr>
          <p:cNvSpPr>
            <a:spLocks noGrp="1"/>
          </p:cNvSpPr>
          <p:nvPr/>
        </p:nvSpPr>
        <p:spPr>
          <a:xfrm>
            <a:off x="9086850" y="4019550"/>
            <a:ext cx="1257300" cy="161925"/>
          </a:xfrm>
          <a:prstGeom prst="rightArrow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D2201739-D2F3-4BF4-8A9B-49031C917F5E}"/>
              </a:ext>
            </a:extLst>
          </p:cNvPr>
          <p:cNvSpPr>
            <a:spLocks noGrp="1"/>
          </p:cNvSpPr>
          <p:nvPr/>
        </p:nvSpPr>
        <p:spPr>
          <a:xfrm>
            <a:off x="8086725" y="4629149"/>
            <a:ext cx="361950" cy="161925"/>
          </a:xfrm>
          <a:prstGeom prst="leftArrow">
            <a:avLst/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994AD179-01AF-458B-9CE4-09A52DF68ED7}"/>
              </a:ext>
            </a:extLst>
          </p:cNvPr>
          <p:cNvSpPr>
            <a:spLocks noGrp="1"/>
          </p:cNvSpPr>
          <p:nvPr/>
        </p:nvSpPr>
        <p:spPr>
          <a:xfrm>
            <a:off x="9118330" y="4634214"/>
            <a:ext cx="1028700" cy="161925"/>
          </a:xfrm>
          <a:prstGeom prst="leftArrow">
            <a:avLst/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1D1EBC-1E7C-4864-ADCB-43B041862570}"/>
              </a:ext>
            </a:extLst>
          </p:cNvPr>
          <p:cNvSpPr>
            <a:spLocks noGrp="1"/>
          </p:cNvSpPr>
          <p:nvPr/>
        </p:nvSpPr>
        <p:spPr>
          <a:xfrm>
            <a:off x="7772400" y="355282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Interest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82D9742-A1AF-4B15-AF36-59402F2A5B51}"/>
              </a:ext>
            </a:extLst>
          </p:cNvPr>
          <p:cNvSpPr>
            <a:spLocks noGrp="1"/>
          </p:cNvSpPr>
          <p:nvPr/>
        </p:nvSpPr>
        <p:spPr>
          <a:xfrm>
            <a:off x="9099280" y="489240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275" b="1" i="0" dirty="0">
                <a:solidFill>
                  <a:srgbClr val="18C2B5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9D8F62-7BBA-47AE-812F-602FAD6F6879}"/>
              </a:ext>
            </a:extLst>
          </p:cNvPr>
          <p:cNvSpPr>
            <a:spLocks noGrp="1"/>
          </p:cNvSpPr>
          <p:nvPr/>
        </p:nvSpPr>
        <p:spPr>
          <a:xfrm>
            <a:off x="8382000" y="3743325"/>
            <a:ext cx="781050" cy="762000"/>
          </a:xfrm>
          <a:prstGeom prst="ellipse">
            <a:avLst/>
          </a:prstGeom>
          <a:noFill/>
          <a:ln w="23813">
            <a:solidFill>
              <a:srgbClr val="22C55E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482EDB-C5AA-4A5E-AC5E-B6ED4F69CE3E}"/>
              </a:ext>
            </a:extLst>
          </p:cNvPr>
          <p:cNvSpPr>
            <a:spLocks noGrp="1"/>
          </p:cNvSpPr>
          <p:nvPr/>
        </p:nvSpPr>
        <p:spPr>
          <a:xfrm>
            <a:off x="8248650" y="5219700"/>
            <a:ext cx="1066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2C55E"/>
                </a:solidFill>
                <a:latin typeface="Aptos"/>
                <a:ea typeface="Aptos"/>
                <a:cs typeface="Aptos"/>
              </a:rPr>
              <a:t>fresh matching Data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6E3883-EC60-43F8-9DB1-EC026B5796C6}"/>
              </a:ext>
            </a:extLst>
          </p:cNvPr>
          <p:cNvSpPr>
            <a:spLocks noGrp="1"/>
          </p:cNvSpPr>
          <p:nvPr/>
        </p:nvSpPr>
        <p:spPr>
          <a:xfrm>
            <a:off x="6438900" y="57531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Any on-path router with fresh matching Data can answer before the producer.</a:t>
            </a:r>
          </a:p>
        </p:txBody>
      </p:sp>
      <p:sp>
        <p:nvSpPr>
          <p:cNvPr id="43" name="Arrow: Left 42">
            <a:extLst>
              <a:ext uri="{FF2B5EF4-FFF2-40B4-BE49-F238E27FC236}">
                <a16:creationId xmlns:a16="http://schemas.microsoft.com/office/drawing/2014/main" id="{AA6495B6-69C7-B41A-F467-288A22C4B3C7}"/>
              </a:ext>
            </a:extLst>
          </p:cNvPr>
          <p:cNvSpPr>
            <a:spLocks noGrp="1"/>
          </p:cNvSpPr>
          <p:nvPr/>
        </p:nvSpPr>
        <p:spPr>
          <a:xfrm>
            <a:off x="7058025" y="4629149"/>
            <a:ext cx="361950" cy="161925"/>
          </a:xfrm>
          <a:prstGeom prst="leftArrow">
            <a:avLst/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2052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AEC538C-92B5-4AA1-B45A-64979B7665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5CB4AC-E11E-44A3-8970-C7C7D6FF70E4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8653D8-06D9-4D68-A6DA-E7C14B2C64F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345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Importance of r</a:t>
            </a:r>
            <a:r>
              <a:rPr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eplacemen</a:t>
            </a:r>
            <a:r>
              <a:rPr lang="en-US"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 policy</a:t>
            </a:r>
            <a:endParaRPr sz="3450" b="1" i="0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9FC7E7-E53B-43A2-BF3E-B603A4B15F43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4</a:t>
            </a:r>
            <a:endParaRPr sz="1500" b="1" i="0" dirty="0">
              <a:solidFill>
                <a:srgbClr val="A899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C5DE68B-4291-4C61-9C5A-E1CEECABB434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A9DFF2-50A0-4983-8264-111EB4833D0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5B2B291-FABF-4E27-B73D-A6ADE2AEC1D8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7C5CF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ABE57A-18DD-426C-8ECE-41914441CB4A}"/>
              </a:ext>
            </a:extLst>
          </p:cNvPr>
          <p:cNvSpPr>
            <a:spLocks noGrp="1"/>
          </p:cNvSpPr>
          <p:nvPr/>
        </p:nvSpPr>
        <p:spPr>
          <a:xfrm>
            <a:off x="647700" y="14668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The decision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19290A-572A-4AA1-B7D8-C30C2A4AA1DF}"/>
              </a:ext>
            </a:extLst>
          </p:cNvPr>
          <p:cNvSpPr>
            <a:spLocks noGrp="1"/>
          </p:cNvSpPr>
          <p:nvPr/>
        </p:nvSpPr>
        <p:spPr>
          <a:xfrm>
            <a:off x="647700" y="1876425"/>
            <a:ext cx="3714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25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Keep the packets with the greatest future local reuse value.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7740BB-1CF6-4429-A02A-CC10C3435AEE}"/>
              </a:ext>
            </a:extLst>
          </p:cNvPr>
          <p:cNvSpPr>
            <a:spLocks noGrp="1"/>
          </p:cNvSpPr>
          <p:nvPr/>
        </p:nvSpPr>
        <p:spPr>
          <a:xfrm>
            <a:off x="647700" y="3124200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A poor eviction creates an avoidable miss when that Data is requested again.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B1BF56-E942-47F8-8484-0F2D3AC48632}"/>
              </a:ext>
            </a:extLst>
          </p:cNvPr>
          <p:cNvSpPr>
            <a:spLocks noGrp="1"/>
          </p:cNvSpPr>
          <p:nvPr/>
        </p:nvSpPr>
        <p:spPr>
          <a:xfrm>
            <a:off x="647700" y="4257675"/>
            <a:ext cx="3714750" cy="1304925"/>
          </a:xfrm>
          <a:prstGeom prst="roundRect">
            <a:avLst>
              <a:gd name="adj" fmla="val 8759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1AE9CC-2261-4D94-85A6-849617B459A6}"/>
              </a:ext>
            </a:extLst>
          </p:cNvPr>
          <p:cNvSpPr>
            <a:spLocks noGrp="1"/>
          </p:cNvSpPr>
          <p:nvPr/>
        </p:nvSpPr>
        <p:spPr>
          <a:xfrm>
            <a:off x="857250" y="4448175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75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consumer cache-hit ratio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8A5B0D2-1DAC-4BA5-BA6C-E14F978CAE82}"/>
              </a:ext>
            </a:extLst>
          </p:cNvPr>
          <p:cNvSpPr>
            <a:spLocks noGrp="1"/>
          </p:cNvSpPr>
          <p:nvPr/>
        </p:nvSpPr>
        <p:spPr>
          <a:xfrm>
            <a:off x="1190625" y="4962525"/>
            <a:ext cx="2628900" cy="0"/>
          </a:xfrm>
          <a:prstGeom prst="line">
            <a:avLst/>
          </a:prstGeom>
          <a:noFill/>
          <a:ln w="14288">
            <a:solidFill>
              <a:srgbClr val="94A3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31D03C-036F-4DDA-87DD-BF4CAE89CB17}"/>
              </a:ext>
            </a:extLst>
          </p:cNvPr>
          <p:cNvSpPr>
            <a:spLocks noGrp="1"/>
          </p:cNvSpPr>
          <p:nvPr/>
        </p:nvSpPr>
        <p:spPr>
          <a:xfrm>
            <a:off x="904875" y="4762500"/>
            <a:ext cx="3181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requests answered by router caches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401ABB-E716-4EB3-94F9-52D265E7A009}"/>
              </a:ext>
            </a:extLst>
          </p:cNvPr>
          <p:cNvSpPr>
            <a:spLocks noGrp="1"/>
          </p:cNvSpPr>
          <p:nvPr/>
        </p:nvSpPr>
        <p:spPr>
          <a:xfrm>
            <a:off x="904875" y="5057775"/>
            <a:ext cx="3181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total consumer requests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69B07E-3ED0-4F30-BC2E-C58DA9E00E68}"/>
              </a:ext>
            </a:extLst>
          </p:cNvPr>
          <p:cNvSpPr>
            <a:spLocks noGrp="1"/>
          </p:cNvSpPr>
          <p:nvPr/>
        </p:nvSpPr>
        <p:spPr>
          <a:xfrm>
            <a:off x="5219700" y="14478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16-packet Content Store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B1AC399-AD2B-4CA5-AFAB-FDE63DE214EC}"/>
              </a:ext>
            </a:extLst>
          </p:cNvPr>
          <p:cNvSpPr>
            <a:spLocks noGrp="1"/>
          </p:cNvSpPr>
          <p:nvPr/>
        </p:nvSpPr>
        <p:spPr>
          <a:xfrm>
            <a:off x="5219700" y="195262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/…/041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9657903-6841-416F-8319-DCEF768372AC}"/>
              </a:ext>
            </a:extLst>
          </p:cNvPr>
          <p:cNvSpPr>
            <a:spLocks noGrp="1"/>
          </p:cNvSpPr>
          <p:nvPr/>
        </p:nvSpPr>
        <p:spPr>
          <a:xfrm>
            <a:off x="6515100" y="195262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/…/127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A4E4AD-0463-4CDE-9D42-46958443C37A}"/>
              </a:ext>
            </a:extLst>
          </p:cNvPr>
          <p:cNvSpPr>
            <a:spLocks noGrp="1"/>
          </p:cNvSpPr>
          <p:nvPr/>
        </p:nvSpPr>
        <p:spPr>
          <a:xfrm>
            <a:off x="7810500" y="195262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/…/003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906DDE6-B71F-4D3B-97C5-CAB80784F6B8}"/>
              </a:ext>
            </a:extLst>
          </p:cNvPr>
          <p:cNvSpPr>
            <a:spLocks noGrp="1"/>
          </p:cNvSpPr>
          <p:nvPr/>
        </p:nvSpPr>
        <p:spPr>
          <a:xfrm>
            <a:off x="9105900" y="195262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/…/098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5660809-1F28-4FE2-9783-6421B1597683}"/>
              </a:ext>
            </a:extLst>
          </p:cNvPr>
          <p:cNvSpPr>
            <a:spLocks noGrp="1"/>
          </p:cNvSpPr>
          <p:nvPr/>
        </p:nvSpPr>
        <p:spPr>
          <a:xfrm>
            <a:off x="5219700" y="273367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/…/221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4AB1EA2-164A-4866-B3EF-52D919E99A73}"/>
              </a:ext>
            </a:extLst>
          </p:cNvPr>
          <p:cNvSpPr>
            <a:spLocks noGrp="1"/>
          </p:cNvSpPr>
          <p:nvPr/>
        </p:nvSpPr>
        <p:spPr>
          <a:xfrm>
            <a:off x="6515100" y="273367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/…/062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BC79F87-EE44-4BAF-A9E6-CB1341287F3E}"/>
              </a:ext>
            </a:extLst>
          </p:cNvPr>
          <p:cNvSpPr>
            <a:spLocks noGrp="1"/>
          </p:cNvSpPr>
          <p:nvPr/>
        </p:nvSpPr>
        <p:spPr>
          <a:xfrm>
            <a:off x="7810500" y="273367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/…/044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F8B9BD9-06E4-4B6C-A285-C7D6914FA5D8}"/>
              </a:ext>
            </a:extLst>
          </p:cNvPr>
          <p:cNvSpPr>
            <a:spLocks noGrp="1"/>
          </p:cNvSpPr>
          <p:nvPr/>
        </p:nvSpPr>
        <p:spPr>
          <a:xfrm>
            <a:off x="9105900" y="273367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/…/179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F2E7BC7-AE05-46E6-8AA3-F27123851AF6}"/>
              </a:ext>
            </a:extLst>
          </p:cNvPr>
          <p:cNvSpPr>
            <a:spLocks noGrp="1"/>
          </p:cNvSpPr>
          <p:nvPr/>
        </p:nvSpPr>
        <p:spPr>
          <a:xfrm>
            <a:off x="5219700" y="351472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/…/015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387F8D3-E1A9-48AD-AC2F-2BF01B3E870C}"/>
              </a:ext>
            </a:extLst>
          </p:cNvPr>
          <p:cNvSpPr>
            <a:spLocks noGrp="1"/>
          </p:cNvSpPr>
          <p:nvPr/>
        </p:nvSpPr>
        <p:spPr>
          <a:xfrm>
            <a:off x="6515100" y="351472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/…/206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F1D178F-F0EF-4193-8535-DCF2BF74E9ED}"/>
              </a:ext>
            </a:extLst>
          </p:cNvPr>
          <p:cNvSpPr>
            <a:spLocks noGrp="1"/>
          </p:cNvSpPr>
          <p:nvPr/>
        </p:nvSpPr>
        <p:spPr>
          <a:xfrm>
            <a:off x="7810500" y="351472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/…/081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7DF6216-E829-4A72-9603-72F1E422C8CE}"/>
              </a:ext>
            </a:extLst>
          </p:cNvPr>
          <p:cNvSpPr>
            <a:spLocks noGrp="1"/>
          </p:cNvSpPr>
          <p:nvPr/>
        </p:nvSpPr>
        <p:spPr>
          <a:xfrm>
            <a:off x="9105900" y="351472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/…/144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F7DD6B4-88B5-45B6-A882-E6FE60BFD549}"/>
              </a:ext>
            </a:extLst>
          </p:cNvPr>
          <p:cNvSpPr>
            <a:spLocks noGrp="1"/>
          </p:cNvSpPr>
          <p:nvPr/>
        </p:nvSpPr>
        <p:spPr>
          <a:xfrm>
            <a:off x="5219700" y="429577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/…/233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A81FA94-CDCE-4558-80D9-5C6A2B4B81EC}"/>
              </a:ext>
            </a:extLst>
          </p:cNvPr>
          <p:cNvSpPr>
            <a:spLocks noGrp="1"/>
          </p:cNvSpPr>
          <p:nvPr/>
        </p:nvSpPr>
        <p:spPr>
          <a:xfrm>
            <a:off x="6515100" y="429577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3A2033"/>
          </a:solidFill>
          <a:ln w="28575">
            <a:solidFill>
              <a:srgbClr val="EF6A5B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EF6A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F6A5B"/>
                </a:solidFill>
                <a:latin typeface="Aptos"/>
                <a:ea typeface="Aptos"/>
                <a:cs typeface="Aptos"/>
              </a:rPr>
              <a:t>/…/027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262F996-0D4E-43C8-900B-5855B6E61C77}"/>
              </a:ext>
            </a:extLst>
          </p:cNvPr>
          <p:cNvSpPr>
            <a:spLocks noGrp="1"/>
          </p:cNvSpPr>
          <p:nvPr/>
        </p:nvSpPr>
        <p:spPr>
          <a:xfrm>
            <a:off x="7810500" y="429577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/…/115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E61F8A6-2939-46B9-8B56-8984D35820CF}"/>
              </a:ext>
            </a:extLst>
          </p:cNvPr>
          <p:cNvSpPr>
            <a:spLocks noGrp="1"/>
          </p:cNvSpPr>
          <p:nvPr/>
        </p:nvSpPr>
        <p:spPr>
          <a:xfrm>
            <a:off x="9105900" y="4295775"/>
            <a:ext cx="1200150" cy="685800"/>
          </a:xfrm>
          <a:prstGeom prst="roundRect">
            <a:avLst>
              <a:gd name="adj" fmla="val 11111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/…/190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93B860-0BF4-4103-9DF9-31752FCD49E3}"/>
              </a:ext>
            </a:extLst>
          </p:cNvPr>
          <p:cNvSpPr>
            <a:spLocks noGrp="1"/>
          </p:cNvSpPr>
          <p:nvPr/>
        </p:nvSpPr>
        <p:spPr>
          <a:xfrm>
            <a:off x="6515100" y="50577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EF6A5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EF6A5B"/>
                </a:solidFill>
                <a:latin typeface="Aptos"/>
                <a:ea typeface="Aptos"/>
                <a:cs typeface="Aptos"/>
              </a:rPr>
              <a:t>EVICTION VICTIM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DA7BB8F-83E2-44D6-85C2-C76B53A6A8EF}"/>
              </a:ext>
            </a:extLst>
          </p:cNvPr>
          <p:cNvSpPr>
            <a:spLocks noGrp="1"/>
          </p:cNvSpPr>
          <p:nvPr/>
        </p:nvSpPr>
        <p:spPr>
          <a:xfrm>
            <a:off x="10420350" y="3057525"/>
            <a:ext cx="1066800" cy="819150"/>
          </a:xfrm>
          <a:prstGeom prst="roundRect">
            <a:avLst>
              <a:gd name="adj" fmla="val 9302"/>
            </a:avLst>
          </a:prstGeom>
          <a:solidFill>
            <a:srgbClr val="7C5CFC"/>
          </a:solidFill>
          <a:ln w="19050">
            <a:solidFill>
              <a:srgbClr val="A899F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 DATA</a:t>
            </a:r>
          </a:p>
          <a:p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/…/247</a:t>
            </a:r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9849FB6C-72FA-43B2-BFF4-C4081C09D330}"/>
              </a:ext>
            </a:extLst>
          </p:cNvPr>
          <p:cNvSpPr>
            <a:spLocks noGrp="1"/>
          </p:cNvSpPr>
          <p:nvPr/>
        </p:nvSpPr>
        <p:spPr>
          <a:xfrm>
            <a:off x="9696450" y="3305175"/>
            <a:ext cx="666750" cy="247650"/>
          </a:xfrm>
          <a:prstGeom prst="leftArrow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4BCB47-2590-42ED-A95F-F10A3BD59DF6}"/>
              </a:ext>
            </a:extLst>
          </p:cNvPr>
          <p:cNvSpPr>
            <a:spLocks noGrp="1"/>
          </p:cNvSpPr>
          <p:nvPr/>
        </p:nvSpPr>
        <p:spPr>
          <a:xfrm>
            <a:off x="10258425" y="2752725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 i="0" dirty="0">
                <a:solidFill>
                  <a:srgbClr val="F59E0B"/>
                </a:solidFill>
                <a:latin typeface="Aptos"/>
                <a:ea typeface="Aptos"/>
                <a:cs typeface="Aptos"/>
              </a:rPr>
              <a:t>full cache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DA5446-4F46-4AEB-A7FB-C4280B7B01D8}"/>
              </a:ext>
            </a:extLst>
          </p:cNvPr>
          <p:cNvSpPr>
            <a:spLocks noGrp="1"/>
          </p:cNvSpPr>
          <p:nvPr/>
        </p:nvSpPr>
        <p:spPr>
          <a:xfrm>
            <a:off x="5219700" y="5772150"/>
            <a:ext cx="615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2C55E"/>
                </a:solidFill>
                <a:latin typeface="Aptos"/>
                <a:ea typeface="Aptos"/>
                <a:cs typeface="Aptos"/>
              </a:rPr>
              <a:t>A hit may occur at any router before the producer.</a:t>
            </a:r>
          </a:p>
        </p:txBody>
      </p:sp>
    </p:spTree>
    <p:extLst>
      <p:ext uri="{BB962C8B-B14F-4D97-AF65-F5344CB8AC3E}">
        <p14:creationId xmlns:p14="http://schemas.microsoft.com/office/powerpoint/2010/main" val="346357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F52D62E2-2BAE-4F11-99B7-5A119C6599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158E3D-9B14-4765-87A2-31E8F528F55A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63AD85-D385-4413-BE82-C8832A11AAB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Implemented network t</a:t>
            </a:r>
            <a:r>
              <a:rPr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opolog</a:t>
            </a:r>
            <a:r>
              <a:rPr lang="en-US"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ies</a:t>
            </a:r>
            <a:endParaRPr sz="3450" b="1" i="0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C15A52-8D8D-4A18-B3EA-EEF07E4943FA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5</a:t>
            </a:r>
            <a:endParaRPr sz="1500" b="1" i="0" dirty="0">
              <a:solidFill>
                <a:srgbClr val="A899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A110234-E20A-4A58-9210-AC6C97D30D26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C622C-52BA-421E-85C6-F7287C66FD0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CCBB998-F3F2-4555-ADFD-FB2183D64B84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7C5CF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E87FCA-B5D6-454A-B1B1-EDC4FDDCE51F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28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B7C5D6"/>
                </a:solidFill>
                <a:latin typeface="Aptos"/>
                <a:ea typeface="Aptos"/>
                <a:cs typeface="Aptos"/>
              </a:rPr>
              <a:t>P0 producer · nodes 1–7 consumers · every router has an independent 16-packet cache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C6E70F-EFA9-4B42-9716-C597DE3458E2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529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LINE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02FC099-75D2-413C-AC59-4E39B9F9CEC3}"/>
              </a:ext>
            </a:extLst>
          </p:cNvPr>
          <p:cNvSpPr>
            <a:spLocks noGrp="1"/>
          </p:cNvSpPr>
          <p:nvPr/>
        </p:nvSpPr>
        <p:spPr>
          <a:xfrm>
            <a:off x="933450" y="2849499"/>
            <a:ext cx="65858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8CF672C-E6EC-4208-9363-4EC15F771ACB}"/>
              </a:ext>
            </a:extLst>
          </p:cNvPr>
          <p:cNvSpPr>
            <a:spLocks noGrp="1"/>
          </p:cNvSpPr>
          <p:nvPr/>
        </p:nvSpPr>
        <p:spPr>
          <a:xfrm>
            <a:off x="1592036" y="2849499"/>
            <a:ext cx="65858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32E74EE-C31D-4F7B-8B1E-DDB6934C06AB}"/>
              </a:ext>
            </a:extLst>
          </p:cNvPr>
          <p:cNvSpPr>
            <a:spLocks noGrp="1"/>
          </p:cNvSpPr>
          <p:nvPr/>
        </p:nvSpPr>
        <p:spPr>
          <a:xfrm>
            <a:off x="2250621" y="2849499"/>
            <a:ext cx="65858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C9512BE-422F-4A06-8E2B-773DD652136D}"/>
              </a:ext>
            </a:extLst>
          </p:cNvPr>
          <p:cNvSpPr>
            <a:spLocks noGrp="1"/>
          </p:cNvSpPr>
          <p:nvPr/>
        </p:nvSpPr>
        <p:spPr>
          <a:xfrm>
            <a:off x="2909207" y="2849499"/>
            <a:ext cx="65858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A7D2B00-6E57-4FC2-AE2B-33A7F1C741AF}"/>
              </a:ext>
            </a:extLst>
          </p:cNvPr>
          <p:cNvSpPr>
            <a:spLocks noGrp="1"/>
          </p:cNvSpPr>
          <p:nvPr/>
        </p:nvSpPr>
        <p:spPr>
          <a:xfrm>
            <a:off x="3567793" y="2849499"/>
            <a:ext cx="65858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DB0DD4E-882B-4160-9628-647E9AE9AAD3}"/>
              </a:ext>
            </a:extLst>
          </p:cNvPr>
          <p:cNvSpPr>
            <a:spLocks noGrp="1"/>
          </p:cNvSpPr>
          <p:nvPr/>
        </p:nvSpPr>
        <p:spPr>
          <a:xfrm>
            <a:off x="4226379" y="2849499"/>
            <a:ext cx="65858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5788E9E-CB1D-4508-B158-83F485819DA8}"/>
              </a:ext>
            </a:extLst>
          </p:cNvPr>
          <p:cNvSpPr>
            <a:spLocks noGrp="1"/>
          </p:cNvSpPr>
          <p:nvPr/>
        </p:nvSpPr>
        <p:spPr>
          <a:xfrm>
            <a:off x="4884964" y="2849499"/>
            <a:ext cx="65858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6B3B450-86C7-44D4-8B55-E2CA6886E213}"/>
              </a:ext>
            </a:extLst>
          </p:cNvPr>
          <p:cNvSpPr>
            <a:spLocks noGrp="1"/>
          </p:cNvSpPr>
          <p:nvPr/>
        </p:nvSpPr>
        <p:spPr>
          <a:xfrm>
            <a:off x="800100" y="2716149"/>
            <a:ext cx="266700" cy="266700"/>
          </a:xfrm>
          <a:prstGeom prst="ellipse">
            <a:avLst/>
          </a:prstGeom>
          <a:solidFill>
            <a:srgbClr val="7C5CFC"/>
          </a:solidFill>
          <a:ln w="20955">
            <a:solidFill>
              <a:srgbClr val="A899F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FC5291-E516-4BCC-968D-339D8E6FDF1F}"/>
              </a:ext>
            </a:extLst>
          </p:cNvPr>
          <p:cNvSpPr>
            <a:spLocks noGrp="1"/>
          </p:cNvSpPr>
          <p:nvPr/>
        </p:nvSpPr>
        <p:spPr>
          <a:xfrm>
            <a:off x="866775" y="2996184"/>
            <a:ext cx="133350" cy="38100"/>
          </a:xfrm>
          <a:prstGeom prst="roundRect">
            <a:avLst>
              <a:gd name="adj" fmla="val 25000"/>
            </a:avLst>
          </a:prstGeom>
          <a:solidFill>
            <a:srgbClr val="A899FF"/>
          </a:solidFill>
          <a:ln w="9525">
            <a:solidFill>
              <a:srgbClr val="A899FF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5723EE9-82EB-4FBA-BC50-5C8FB41986AB}"/>
              </a:ext>
            </a:extLst>
          </p:cNvPr>
          <p:cNvSpPr>
            <a:spLocks noGrp="1"/>
          </p:cNvSpPr>
          <p:nvPr/>
        </p:nvSpPr>
        <p:spPr>
          <a:xfrm>
            <a:off x="1458686" y="2716149"/>
            <a:ext cx="266700" cy="26670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FF0EE9A-D6DB-409A-9313-73F6014DD07C}"/>
              </a:ext>
            </a:extLst>
          </p:cNvPr>
          <p:cNvSpPr>
            <a:spLocks noGrp="1"/>
          </p:cNvSpPr>
          <p:nvPr/>
        </p:nvSpPr>
        <p:spPr>
          <a:xfrm>
            <a:off x="1525361" y="2996184"/>
            <a:ext cx="133350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E07ACA0-6B47-4542-9C9E-54EE710526E2}"/>
              </a:ext>
            </a:extLst>
          </p:cNvPr>
          <p:cNvSpPr>
            <a:spLocks noGrp="1"/>
          </p:cNvSpPr>
          <p:nvPr/>
        </p:nvSpPr>
        <p:spPr>
          <a:xfrm>
            <a:off x="2117271" y="2716149"/>
            <a:ext cx="266700" cy="26670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3BC783-1F25-4E8D-AD5B-688D8740D005}"/>
              </a:ext>
            </a:extLst>
          </p:cNvPr>
          <p:cNvSpPr>
            <a:spLocks noGrp="1"/>
          </p:cNvSpPr>
          <p:nvPr/>
        </p:nvSpPr>
        <p:spPr>
          <a:xfrm>
            <a:off x="2183946" y="2996184"/>
            <a:ext cx="133350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8342ED-C1E5-4348-91BB-EBE714493B01}"/>
              </a:ext>
            </a:extLst>
          </p:cNvPr>
          <p:cNvSpPr>
            <a:spLocks noGrp="1"/>
          </p:cNvSpPr>
          <p:nvPr/>
        </p:nvSpPr>
        <p:spPr>
          <a:xfrm>
            <a:off x="2775857" y="2716149"/>
            <a:ext cx="266700" cy="26670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BCAC999-70A2-4AA3-A01A-0318943BF3AB}"/>
              </a:ext>
            </a:extLst>
          </p:cNvPr>
          <p:cNvSpPr>
            <a:spLocks noGrp="1"/>
          </p:cNvSpPr>
          <p:nvPr/>
        </p:nvSpPr>
        <p:spPr>
          <a:xfrm>
            <a:off x="2842532" y="2996184"/>
            <a:ext cx="133350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DF68E58-BEAE-4E36-B4BA-46DDD8403F98}"/>
              </a:ext>
            </a:extLst>
          </p:cNvPr>
          <p:cNvSpPr>
            <a:spLocks noGrp="1"/>
          </p:cNvSpPr>
          <p:nvPr/>
        </p:nvSpPr>
        <p:spPr>
          <a:xfrm>
            <a:off x="3434443" y="2716149"/>
            <a:ext cx="266700" cy="26670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1167435-8975-4C92-B5B1-87CB7D0A2413}"/>
              </a:ext>
            </a:extLst>
          </p:cNvPr>
          <p:cNvSpPr>
            <a:spLocks noGrp="1"/>
          </p:cNvSpPr>
          <p:nvPr/>
        </p:nvSpPr>
        <p:spPr>
          <a:xfrm>
            <a:off x="3501118" y="2996184"/>
            <a:ext cx="133350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1BADFD1-3A89-4F7D-AFFE-FE60C5D701FC}"/>
              </a:ext>
            </a:extLst>
          </p:cNvPr>
          <p:cNvSpPr>
            <a:spLocks noGrp="1"/>
          </p:cNvSpPr>
          <p:nvPr/>
        </p:nvSpPr>
        <p:spPr>
          <a:xfrm>
            <a:off x="4093029" y="2716149"/>
            <a:ext cx="266700" cy="26670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6359AE5-3145-4900-B708-33D27E3667D6}"/>
              </a:ext>
            </a:extLst>
          </p:cNvPr>
          <p:cNvSpPr>
            <a:spLocks noGrp="1"/>
          </p:cNvSpPr>
          <p:nvPr/>
        </p:nvSpPr>
        <p:spPr>
          <a:xfrm>
            <a:off x="4159704" y="2996184"/>
            <a:ext cx="133350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165E81C-D283-47CA-8605-62AA0651595A}"/>
              </a:ext>
            </a:extLst>
          </p:cNvPr>
          <p:cNvSpPr>
            <a:spLocks noGrp="1"/>
          </p:cNvSpPr>
          <p:nvPr/>
        </p:nvSpPr>
        <p:spPr>
          <a:xfrm>
            <a:off x="4751614" y="2716149"/>
            <a:ext cx="266700" cy="26670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2F7DC7E-D226-46A9-821A-5B95C5FAC4FD}"/>
              </a:ext>
            </a:extLst>
          </p:cNvPr>
          <p:cNvSpPr>
            <a:spLocks noGrp="1"/>
          </p:cNvSpPr>
          <p:nvPr/>
        </p:nvSpPr>
        <p:spPr>
          <a:xfrm>
            <a:off x="4818289" y="2996184"/>
            <a:ext cx="133350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4AFA0C7-E3FF-4693-A15F-37156A09FA44}"/>
              </a:ext>
            </a:extLst>
          </p:cNvPr>
          <p:cNvSpPr>
            <a:spLocks noGrp="1"/>
          </p:cNvSpPr>
          <p:nvPr/>
        </p:nvSpPr>
        <p:spPr>
          <a:xfrm>
            <a:off x="5410200" y="2716149"/>
            <a:ext cx="266700" cy="26670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C510D48-CDAF-47DB-8F95-69ED4F00FC55}"/>
              </a:ext>
            </a:extLst>
          </p:cNvPr>
          <p:cNvSpPr>
            <a:spLocks noGrp="1"/>
          </p:cNvSpPr>
          <p:nvPr/>
        </p:nvSpPr>
        <p:spPr>
          <a:xfrm>
            <a:off x="5476875" y="2996184"/>
            <a:ext cx="133350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B347B1-1709-4259-98A6-008FB62323B2}"/>
              </a:ext>
            </a:extLst>
          </p:cNvPr>
          <p:cNvSpPr>
            <a:spLocks noGrp="1"/>
          </p:cNvSpPr>
          <p:nvPr/>
        </p:nvSpPr>
        <p:spPr>
          <a:xfrm>
            <a:off x="6286500" y="1666875"/>
            <a:ext cx="529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RING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69FB079B-F3FF-4B24-8424-F64FDFA84A74}"/>
              </a:ext>
            </a:extLst>
          </p:cNvPr>
          <p:cNvSpPr>
            <a:spLocks noGrp="1"/>
          </p:cNvSpPr>
          <p:nvPr/>
        </p:nvSpPr>
        <p:spPr>
          <a:xfrm>
            <a:off x="8934450" y="2232470"/>
            <a:ext cx="1273221" cy="17190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CCCCC626-0160-4332-9782-80A88094A44B}"/>
              </a:ext>
            </a:extLst>
          </p:cNvPr>
          <p:cNvSpPr>
            <a:spLocks noGrp="1"/>
          </p:cNvSpPr>
          <p:nvPr/>
        </p:nvSpPr>
        <p:spPr>
          <a:xfrm>
            <a:off x="10207671" y="2404377"/>
            <a:ext cx="527385" cy="41502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144D9741-094F-4792-AF3C-97D027A17A9D}"/>
              </a:ext>
            </a:extLst>
          </p:cNvPr>
          <p:cNvSpPr>
            <a:spLocks noGrp="1"/>
          </p:cNvSpPr>
          <p:nvPr/>
        </p:nvSpPr>
        <p:spPr>
          <a:xfrm flipH="1">
            <a:off x="10207671" y="2819400"/>
            <a:ext cx="527385" cy="41502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144800E2-B385-4826-A306-5C48CAAF1F42}"/>
              </a:ext>
            </a:extLst>
          </p:cNvPr>
          <p:cNvSpPr>
            <a:spLocks noGrp="1"/>
          </p:cNvSpPr>
          <p:nvPr/>
        </p:nvSpPr>
        <p:spPr>
          <a:xfrm flipH="1">
            <a:off x="8934450" y="3234423"/>
            <a:ext cx="1273221" cy="17190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977F30F5-44C8-42D5-8CE9-5C0A283DE47B}"/>
              </a:ext>
            </a:extLst>
          </p:cNvPr>
          <p:cNvSpPr>
            <a:spLocks noGrp="1"/>
          </p:cNvSpPr>
          <p:nvPr/>
        </p:nvSpPr>
        <p:spPr>
          <a:xfrm>
            <a:off x="7661229" y="3234423"/>
            <a:ext cx="1273221" cy="17190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8FEF1CC9-0532-49A7-A167-72A308D24C2F}"/>
              </a:ext>
            </a:extLst>
          </p:cNvPr>
          <p:cNvSpPr>
            <a:spLocks noGrp="1"/>
          </p:cNvSpPr>
          <p:nvPr/>
        </p:nvSpPr>
        <p:spPr>
          <a:xfrm>
            <a:off x="7133844" y="2819400"/>
            <a:ext cx="527385" cy="41502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5256DF5B-C515-48B1-AD8C-176A8B1E34EA}"/>
              </a:ext>
            </a:extLst>
          </p:cNvPr>
          <p:cNvSpPr>
            <a:spLocks noGrp="1"/>
          </p:cNvSpPr>
          <p:nvPr/>
        </p:nvSpPr>
        <p:spPr>
          <a:xfrm flipH="1">
            <a:off x="7133844" y="2404377"/>
            <a:ext cx="527385" cy="41502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6A19D4FC-FBAF-4573-B3F5-1B3C46D0B4FE}"/>
              </a:ext>
            </a:extLst>
          </p:cNvPr>
          <p:cNvSpPr>
            <a:spLocks noGrp="1"/>
          </p:cNvSpPr>
          <p:nvPr/>
        </p:nvSpPr>
        <p:spPr>
          <a:xfrm flipH="1">
            <a:off x="7661229" y="2232470"/>
            <a:ext cx="1273221" cy="17190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7CB5C58-7BEA-4E3D-AFBA-E9112F95DBE2}"/>
              </a:ext>
            </a:extLst>
          </p:cNvPr>
          <p:cNvSpPr>
            <a:spLocks noGrp="1"/>
          </p:cNvSpPr>
          <p:nvPr/>
        </p:nvSpPr>
        <p:spPr>
          <a:xfrm>
            <a:off x="8791575" y="2089595"/>
            <a:ext cx="285750" cy="285750"/>
          </a:xfrm>
          <a:prstGeom prst="ellipse">
            <a:avLst/>
          </a:prstGeom>
          <a:solidFill>
            <a:srgbClr val="7C5CFC"/>
          </a:solidFill>
          <a:ln w="20955">
            <a:solidFill>
              <a:srgbClr val="A899F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85FF173-7207-4FD0-9F86-C842F939803D}"/>
              </a:ext>
            </a:extLst>
          </p:cNvPr>
          <p:cNvSpPr>
            <a:spLocks noGrp="1"/>
          </p:cNvSpPr>
          <p:nvPr/>
        </p:nvSpPr>
        <p:spPr>
          <a:xfrm>
            <a:off x="8863013" y="2389632"/>
            <a:ext cx="142875" cy="38100"/>
          </a:xfrm>
          <a:prstGeom prst="roundRect">
            <a:avLst>
              <a:gd name="adj" fmla="val 25000"/>
            </a:avLst>
          </a:prstGeom>
          <a:solidFill>
            <a:srgbClr val="A899FF"/>
          </a:solidFill>
          <a:ln w="9525">
            <a:solidFill>
              <a:srgbClr val="A899FF"/>
            </a:solidFill>
            <a:prstDash val="solid"/>
          </a:ln>
        </p:spPr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667420E-FDE3-4C56-B203-7EE6FB5580CA}"/>
              </a:ext>
            </a:extLst>
          </p:cNvPr>
          <p:cNvSpPr>
            <a:spLocks noGrp="1"/>
          </p:cNvSpPr>
          <p:nvPr/>
        </p:nvSpPr>
        <p:spPr>
          <a:xfrm>
            <a:off x="10064796" y="2261502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C636810-7B64-4DA5-9463-3669E4336042}"/>
              </a:ext>
            </a:extLst>
          </p:cNvPr>
          <p:cNvSpPr>
            <a:spLocks noGrp="1"/>
          </p:cNvSpPr>
          <p:nvPr/>
        </p:nvSpPr>
        <p:spPr>
          <a:xfrm>
            <a:off x="10136233" y="2561540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CF61158-75B9-4C86-919E-1612F6EEF996}"/>
              </a:ext>
            </a:extLst>
          </p:cNvPr>
          <p:cNvSpPr>
            <a:spLocks noGrp="1"/>
          </p:cNvSpPr>
          <p:nvPr/>
        </p:nvSpPr>
        <p:spPr>
          <a:xfrm>
            <a:off x="10592181" y="2676525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5232EC8-6CFE-49EC-9934-E365486E6BCD}"/>
              </a:ext>
            </a:extLst>
          </p:cNvPr>
          <p:cNvSpPr>
            <a:spLocks noGrp="1"/>
          </p:cNvSpPr>
          <p:nvPr/>
        </p:nvSpPr>
        <p:spPr>
          <a:xfrm>
            <a:off x="10663619" y="2976563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B3F21EE-BA7C-4BE3-B2B5-6366B5503D4C}"/>
              </a:ext>
            </a:extLst>
          </p:cNvPr>
          <p:cNvSpPr>
            <a:spLocks noGrp="1"/>
          </p:cNvSpPr>
          <p:nvPr/>
        </p:nvSpPr>
        <p:spPr>
          <a:xfrm>
            <a:off x="10064796" y="3091548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65ADEF9-5D38-4384-89ED-6A130D5840FD}"/>
              </a:ext>
            </a:extLst>
          </p:cNvPr>
          <p:cNvSpPr>
            <a:spLocks noGrp="1"/>
          </p:cNvSpPr>
          <p:nvPr/>
        </p:nvSpPr>
        <p:spPr>
          <a:xfrm>
            <a:off x="10136233" y="3391585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1BA8B8B-EEFE-410C-9D2B-4CAE2A1A21A6}"/>
              </a:ext>
            </a:extLst>
          </p:cNvPr>
          <p:cNvSpPr>
            <a:spLocks noGrp="1"/>
          </p:cNvSpPr>
          <p:nvPr/>
        </p:nvSpPr>
        <p:spPr>
          <a:xfrm>
            <a:off x="8791575" y="3263456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7EB936E-2DC5-463D-A798-246463E68503}"/>
              </a:ext>
            </a:extLst>
          </p:cNvPr>
          <p:cNvSpPr>
            <a:spLocks noGrp="1"/>
          </p:cNvSpPr>
          <p:nvPr/>
        </p:nvSpPr>
        <p:spPr>
          <a:xfrm>
            <a:off x="8863013" y="3563493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CF5401A-0E20-406E-9FB6-54EC3CF0AD06}"/>
              </a:ext>
            </a:extLst>
          </p:cNvPr>
          <p:cNvSpPr>
            <a:spLocks noGrp="1"/>
          </p:cNvSpPr>
          <p:nvPr/>
        </p:nvSpPr>
        <p:spPr>
          <a:xfrm>
            <a:off x="7518354" y="3091548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5537606-5350-46F8-8286-9B6A27D0499A}"/>
              </a:ext>
            </a:extLst>
          </p:cNvPr>
          <p:cNvSpPr>
            <a:spLocks noGrp="1"/>
          </p:cNvSpPr>
          <p:nvPr/>
        </p:nvSpPr>
        <p:spPr>
          <a:xfrm>
            <a:off x="7589792" y="3391585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C0743BC-6827-4178-AEB3-BB5093EEE89D}"/>
              </a:ext>
            </a:extLst>
          </p:cNvPr>
          <p:cNvSpPr>
            <a:spLocks noGrp="1"/>
          </p:cNvSpPr>
          <p:nvPr/>
        </p:nvSpPr>
        <p:spPr>
          <a:xfrm>
            <a:off x="6990969" y="2676525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877D593-47AC-4D0F-AFC0-327B8BE43427}"/>
              </a:ext>
            </a:extLst>
          </p:cNvPr>
          <p:cNvSpPr>
            <a:spLocks noGrp="1"/>
          </p:cNvSpPr>
          <p:nvPr/>
        </p:nvSpPr>
        <p:spPr>
          <a:xfrm>
            <a:off x="7062407" y="2976563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52C9A84-034A-4EDE-959B-542C111B380F}"/>
              </a:ext>
            </a:extLst>
          </p:cNvPr>
          <p:cNvSpPr>
            <a:spLocks noGrp="1"/>
          </p:cNvSpPr>
          <p:nvPr/>
        </p:nvSpPr>
        <p:spPr>
          <a:xfrm>
            <a:off x="7518354" y="2261502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EB5A33B-6DAD-4D59-8575-A3A059C088D8}"/>
              </a:ext>
            </a:extLst>
          </p:cNvPr>
          <p:cNvSpPr>
            <a:spLocks noGrp="1"/>
          </p:cNvSpPr>
          <p:nvPr/>
        </p:nvSpPr>
        <p:spPr>
          <a:xfrm>
            <a:off x="7589792" y="2561540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4BF12A6-3F8C-46F7-9EA7-48A29941B825}"/>
              </a:ext>
            </a:extLst>
          </p:cNvPr>
          <p:cNvSpPr>
            <a:spLocks noGrp="1"/>
          </p:cNvSpPr>
          <p:nvPr/>
        </p:nvSpPr>
        <p:spPr>
          <a:xfrm>
            <a:off x="590550" y="3876675"/>
            <a:ext cx="529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STAR</a:t>
            </a:r>
          </a:p>
        </p:txBody>
      </p:sp>
      <p:sp>
        <p:nvSpPr>
          <p:cNvPr id="60" name="Straight Connector 59">
            <a:extLst>
              <a:ext uri="{FF2B5EF4-FFF2-40B4-BE49-F238E27FC236}">
                <a16:creationId xmlns:a16="http://schemas.microsoft.com/office/drawing/2014/main" id="{5752EFEB-6A01-4CE5-B6C3-B16A2DAD5EB3}"/>
              </a:ext>
            </a:extLst>
          </p:cNvPr>
          <p:cNvSpPr>
            <a:spLocks noGrp="1"/>
          </p:cNvSpPr>
          <p:nvPr/>
        </p:nvSpPr>
        <p:spPr>
          <a:xfrm>
            <a:off x="3238500" y="4442270"/>
            <a:ext cx="0" cy="586931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1" name="Straight Connector 60">
            <a:extLst>
              <a:ext uri="{FF2B5EF4-FFF2-40B4-BE49-F238E27FC236}">
                <a16:creationId xmlns:a16="http://schemas.microsoft.com/office/drawing/2014/main" id="{486958E5-47A6-438A-BA02-257AFC90D94A}"/>
              </a:ext>
            </a:extLst>
          </p:cNvPr>
          <p:cNvSpPr>
            <a:spLocks noGrp="1"/>
          </p:cNvSpPr>
          <p:nvPr/>
        </p:nvSpPr>
        <p:spPr>
          <a:xfrm>
            <a:off x="3238500" y="5029200"/>
            <a:ext cx="180060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2" name="Straight Connector 61">
            <a:extLst>
              <a:ext uri="{FF2B5EF4-FFF2-40B4-BE49-F238E27FC236}">
                <a16:creationId xmlns:a16="http://schemas.microsoft.com/office/drawing/2014/main" id="{DA499B8B-56BC-4498-90F0-D66FFD46E537}"/>
              </a:ext>
            </a:extLst>
          </p:cNvPr>
          <p:cNvSpPr>
            <a:spLocks noGrp="1"/>
          </p:cNvSpPr>
          <p:nvPr/>
        </p:nvSpPr>
        <p:spPr>
          <a:xfrm>
            <a:off x="3238500" y="5029200"/>
            <a:ext cx="1273221" cy="41502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3" name="Straight Connector 62">
            <a:extLst>
              <a:ext uri="{FF2B5EF4-FFF2-40B4-BE49-F238E27FC236}">
                <a16:creationId xmlns:a16="http://schemas.microsoft.com/office/drawing/2014/main" id="{5E7A9DB6-A2A5-43E2-930B-17DD4DC17FD4}"/>
              </a:ext>
            </a:extLst>
          </p:cNvPr>
          <p:cNvSpPr>
            <a:spLocks noGrp="1"/>
          </p:cNvSpPr>
          <p:nvPr/>
        </p:nvSpPr>
        <p:spPr>
          <a:xfrm>
            <a:off x="3238500" y="5029200"/>
            <a:ext cx="0" cy="586931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4" name="Straight Connector 63">
            <a:extLst>
              <a:ext uri="{FF2B5EF4-FFF2-40B4-BE49-F238E27FC236}">
                <a16:creationId xmlns:a16="http://schemas.microsoft.com/office/drawing/2014/main" id="{70533FEA-E9EF-48E1-86C4-89B4133F7584}"/>
              </a:ext>
            </a:extLst>
          </p:cNvPr>
          <p:cNvSpPr>
            <a:spLocks noGrp="1"/>
          </p:cNvSpPr>
          <p:nvPr/>
        </p:nvSpPr>
        <p:spPr>
          <a:xfrm flipH="1">
            <a:off x="1965279" y="5029200"/>
            <a:ext cx="1273221" cy="41502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5" name="Straight Connector 64">
            <a:extLst>
              <a:ext uri="{FF2B5EF4-FFF2-40B4-BE49-F238E27FC236}">
                <a16:creationId xmlns:a16="http://schemas.microsoft.com/office/drawing/2014/main" id="{85530F3D-5794-49AC-B051-16DCE37944CB}"/>
              </a:ext>
            </a:extLst>
          </p:cNvPr>
          <p:cNvSpPr>
            <a:spLocks noGrp="1"/>
          </p:cNvSpPr>
          <p:nvPr/>
        </p:nvSpPr>
        <p:spPr>
          <a:xfrm>
            <a:off x="1437894" y="5029200"/>
            <a:ext cx="180060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6" name="Straight Connector 65">
            <a:extLst>
              <a:ext uri="{FF2B5EF4-FFF2-40B4-BE49-F238E27FC236}">
                <a16:creationId xmlns:a16="http://schemas.microsoft.com/office/drawing/2014/main" id="{402F8693-F249-4359-9EB9-32B30BF54745}"/>
              </a:ext>
            </a:extLst>
          </p:cNvPr>
          <p:cNvSpPr>
            <a:spLocks noGrp="1"/>
          </p:cNvSpPr>
          <p:nvPr/>
        </p:nvSpPr>
        <p:spPr>
          <a:xfrm>
            <a:off x="1965279" y="4614177"/>
            <a:ext cx="1273221" cy="41502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DFD5A60-3C90-4B60-8F50-31771BB8539B}"/>
              </a:ext>
            </a:extLst>
          </p:cNvPr>
          <p:cNvSpPr>
            <a:spLocks noGrp="1"/>
          </p:cNvSpPr>
          <p:nvPr/>
        </p:nvSpPr>
        <p:spPr>
          <a:xfrm>
            <a:off x="3095625" y="4299395"/>
            <a:ext cx="285750" cy="285750"/>
          </a:xfrm>
          <a:prstGeom prst="ellipse">
            <a:avLst/>
          </a:prstGeom>
          <a:solidFill>
            <a:srgbClr val="7C5CFC"/>
          </a:solidFill>
          <a:ln w="20955">
            <a:solidFill>
              <a:srgbClr val="A899F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147D0CF9-F862-41A1-8D51-5C45116F7FEA}"/>
              </a:ext>
            </a:extLst>
          </p:cNvPr>
          <p:cNvSpPr>
            <a:spLocks noGrp="1"/>
          </p:cNvSpPr>
          <p:nvPr/>
        </p:nvSpPr>
        <p:spPr>
          <a:xfrm>
            <a:off x="3167063" y="4599432"/>
            <a:ext cx="142875" cy="38100"/>
          </a:xfrm>
          <a:prstGeom prst="roundRect">
            <a:avLst>
              <a:gd name="adj" fmla="val 25000"/>
            </a:avLst>
          </a:prstGeom>
          <a:solidFill>
            <a:srgbClr val="A899FF"/>
          </a:solidFill>
          <a:ln w="9525">
            <a:solidFill>
              <a:srgbClr val="A899FF"/>
            </a:solidFill>
            <a:prstDash val="solid"/>
          </a:ln>
        </p:spPr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9A6BC94-55D2-4950-B305-A777FD9AB4D3}"/>
              </a:ext>
            </a:extLst>
          </p:cNvPr>
          <p:cNvSpPr>
            <a:spLocks noGrp="1"/>
          </p:cNvSpPr>
          <p:nvPr/>
        </p:nvSpPr>
        <p:spPr>
          <a:xfrm>
            <a:off x="3095625" y="4886325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20C0B7A-E5A2-478A-A991-FDF7AB90DFFE}"/>
              </a:ext>
            </a:extLst>
          </p:cNvPr>
          <p:cNvSpPr>
            <a:spLocks noGrp="1"/>
          </p:cNvSpPr>
          <p:nvPr/>
        </p:nvSpPr>
        <p:spPr>
          <a:xfrm>
            <a:off x="3167063" y="5186363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6E19F3B-7322-41C3-9525-A3A8DA7BB17A}"/>
              </a:ext>
            </a:extLst>
          </p:cNvPr>
          <p:cNvSpPr>
            <a:spLocks noGrp="1"/>
          </p:cNvSpPr>
          <p:nvPr/>
        </p:nvSpPr>
        <p:spPr>
          <a:xfrm>
            <a:off x="4896231" y="4886325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246BFDA-F423-45DD-B9FF-49A22FA993B6}"/>
              </a:ext>
            </a:extLst>
          </p:cNvPr>
          <p:cNvSpPr>
            <a:spLocks noGrp="1"/>
          </p:cNvSpPr>
          <p:nvPr/>
        </p:nvSpPr>
        <p:spPr>
          <a:xfrm>
            <a:off x="4967669" y="5186363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405A352-B3A2-465E-98EB-725EE2C03362}"/>
              </a:ext>
            </a:extLst>
          </p:cNvPr>
          <p:cNvSpPr>
            <a:spLocks noGrp="1"/>
          </p:cNvSpPr>
          <p:nvPr/>
        </p:nvSpPr>
        <p:spPr>
          <a:xfrm>
            <a:off x="4368846" y="5301348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E1EE9A89-D777-4B51-81E4-AE07053437BF}"/>
              </a:ext>
            </a:extLst>
          </p:cNvPr>
          <p:cNvSpPr>
            <a:spLocks noGrp="1"/>
          </p:cNvSpPr>
          <p:nvPr/>
        </p:nvSpPr>
        <p:spPr>
          <a:xfrm>
            <a:off x="4440283" y="5601385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251546B-DB82-4873-9B1A-7B71B877EFB6}"/>
              </a:ext>
            </a:extLst>
          </p:cNvPr>
          <p:cNvSpPr>
            <a:spLocks noGrp="1"/>
          </p:cNvSpPr>
          <p:nvPr/>
        </p:nvSpPr>
        <p:spPr>
          <a:xfrm>
            <a:off x="3095625" y="5473256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7373AFBF-1763-48B3-B6D5-A1CF0B084ACC}"/>
              </a:ext>
            </a:extLst>
          </p:cNvPr>
          <p:cNvSpPr>
            <a:spLocks noGrp="1"/>
          </p:cNvSpPr>
          <p:nvPr/>
        </p:nvSpPr>
        <p:spPr>
          <a:xfrm>
            <a:off x="3167063" y="5773293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338C1B8-62FE-4912-810C-5DBE8E9FA104}"/>
              </a:ext>
            </a:extLst>
          </p:cNvPr>
          <p:cNvSpPr>
            <a:spLocks noGrp="1"/>
          </p:cNvSpPr>
          <p:nvPr/>
        </p:nvSpPr>
        <p:spPr>
          <a:xfrm>
            <a:off x="1822404" y="5301348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358E368-CD49-4281-9F29-2D240B864B17}"/>
              </a:ext>
            </a:extLst>
          </p:cNvPr>
          <p:cNvSpPr>
            <a:spLocks noGrp="1"/>
          </p:cNvSpPr>
          <p:nvPr/>
        </p:nvSpPr>
        <p:spPr>
          <a:xfrm>
            <a:off x="1893842" y="5601385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72C7D60-EB22-4199-9798-668650620C81}"/>
              </a:ext>
            </a:extLst>
          </p:cNvPr>
          <p:cNvSpPr>
            <a:spLocks noGrp="1"/>
          </p:cNvSpPr>
          <p:nvPr/>
        </p:nvSpPr>
        <p:spPr>
          <a:xfrm>
            <a:off x="1295019" y="4886325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52F2B89-9A2B-47F1-9357-DEA4E7B8C8F7}"/>
              </a:ext>
            </a:extLst>
          </p:cNvPr>
          <p:cNvSpPr>
            <a:spLocks noGrp="1"/>
          </p:cNvSpPr>
          <p:nvPr/>
        </p:nvSpPr>
        <p:spPr>
          <a:xfrm>
            <a:off x="1366456" y="5186363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D82750C-4485-436E-B909-B8AB29DD1BC9}"/>
              </a:ext>
            </a:extLst>
          </p:cNvPr>
          <p:cNvSpPr>
            <a:spLocks noGrp="1"/>
          </p:cNvSpPr>
          <p:nvPr/>
        </p:nvSpPr>
        <p:spPr>
          <a:xfrm>
            <a:off x="1822404" y="4471302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C38BD14-6486-46AE-AB11-3ED3E76FED25}"/>
              </a:ext>
            </a:extLst>
          </p:cNvPr>
          <p:cNvSpPr>
            <a:spLocks noGrp="1"/>
          </p:cNvSpPr>
          <p:nvPr/>
        </p:nvSpPr>
        <p:spPr>
          <a:xfrm>
            <a:off x="1893842" y="4771340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321D02E-E09C-4E59-A95C-8F9832CF01B2}"/>
              </a:ext>
            </a:extLst>
          </p:cNvPr>
          <p:cNvSpPr>
            <a:spLocks noGrp="1"/>
          </p:cNvSpPr>
          <p:nvPr/>
        </p:nvSpPr>
        <p:spPr>
          <a:xfrm>
            <a:off x="6286500" y="3876675"/>
            <a:ext cx="529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18C2B5"/>
                </a:solidFill>
                <a:latin typeface="Aptos"/>
                <a:ea typeface="Aptos"/>
                <a:cs typeface="Aptos"/>
              </a:rPr>
              <a:t>COMPLETE MESH</a:t>
            </a:r>
          </a:p>
        </p:txBody>
      </p:sp>
      <p:sp>
        <p:nvSpPr>
          <p:cNvPr id="85" name="Straight Connector 84">
            <a:extLst>
              <a:ext uri="{FF2B5EF4-FFF2-40B4-BE49-F238E27FC236}">
                <a16:creationId xmlns:a16="http://schemas.microsoft.com/office/drawing/2014/main" id="{8D353466-10D9-4A26-B106-613B7AEEF604}"/>
              </a:ext>
            </a:extLst>
          </p:cNvPr>
          <p:cNvSpPr>
            <a:spLocks noGrp="1"/>
          </p:cNvSpPr>
          <p:nvPr/>
        </p:nvSpPr>
        <p:spPr>
          <a:xfrm>
            <a:off x="8934450" y="4442270"/>
            <a:ext cx="1273221" cy="171908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86" name="Straight Connector 85">
            <a:extLst>
              <a:ext uri="{FF2B5EF4-FFF2-40B4-BE49-F238E27FC236}">
                <a16:creationId xmlns:a16="http://schemas.microsoft.com/office/drawing/2014/main" id="{2BCC96C1-B502-4DC5-9560-B3454B38092F}"/>
              </a:ext>
            </a:extLst>
          </p:cNvPr>
          <p:cNvSpPr>
            <a:spLocks noGrp="1"/>
          </p:cNvSpPr>
          <p:nvPr/>
        </p:nvSpPr>
        <p:spPr>
          <a:xfrm>
            <a:off x="8934450" y="4442270"/>
            <a:ext cx="1800606" cy="586931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87" name="Straight Connector 86">
            <a:extLst>
              <a:ext uri="{FF2B5EF4-FFF2-40B4-BE49-F238E27FC236}">
                <a16:creationId xmlns:a16="http://schemas.microsoft.com/office/drawing/2014/main" id="{E01BB8A8-8620-4565-9357-CEA5847896CE}"/>
              </a:ext>
            </a:extLst>
          </p:cNvPr>
          <p:cNvSpPr>
            <a:spLocks noGrp="1"/>
          </p:cNvSpPr>
          <p:nvPr/>
        </p:nvSpPr>
        <p:spPr>
          <a:xfrm>
            <a:off x="8934450" y="4442270"/>
            <a:ext cx="1273221" cy="100195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88" name="Straight Connector 87">
            <a:extLst>
              <a:ext uri="{FF2B5EF4-FFF2-40B4-BE49-F238E27FC236}">
                <a16:creationId xmlns:a16="http://schemas.microsoft.com/office/drawing/2014/main" id="{95BC4286-E0A8-4667-A1F2-1986A41F361E}"/>
              </a:ext>
            </a:extLst>
          </p:cNvPr>
          <p:cNvSpPr>
            <a:spLocks noGrp="1"/>
          </p:cNvSpPr>
          <p:nvPr/>
        </p:nvSpPr>
        <p:spPr>
          <a:xfrm>
            <a:off x="8934450" y="4442270"/>
            <a:ext cx="0" cy="1173861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89" name="Straight Connector 88">
            <a:extLst>
              <a:ext uri="{FF2B5EF4-FFF2-40B4-BE49-F238E27FC236}">
                <a16:creationId xmlns:a16="http://schemas.microsoft.com/office/drawing/2014/main" id="{0D97EB74-D369-47D1-8DAE-02BAB1FBC9AD}"/>
              </a:ext>
            </a:extLst>
          </p:cNvPr>
          <p:cNvSpPr>
            <a:spLocks noGrp="1"/>
          </p:cNvSpPr>
          <p:nvPr/>
        </p:nvSpPr>
        <p:spPr>
          <a:xfrm flipH="1">
            <a:off x="7661229" y="4442270"/>
            <a:ext cx="1273221" cy="100195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90" name="Straight Connector 89">
            <a:extLst>
              <a:ext uri="{FF2B5EF4-FFF2-40B4-BE49-F238E27FC236}">
                <a16:creationId xmlns:a16="http://schemas.microsoft.com/office/drawing/2014/main" id="{655DD6A4-2E1C-4D09-8B27-B44C62A7C13C}"/>
              </a:ext>
            </a:extLst>
          </p:cNvPr>
          <p:cNvSpPr>
            <a:spLocks noGrp="1"/>
          </p:cNvSpPr>
          <p:nvPr/>
        </p:nvSpPr>
        <p:spPr>
          <a:xfrm flipH="1">
            <a:off x="7133844" y="4442270"/>
            <a:ext cx="1800606" cy="586931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91" name="Straight Connector 90">
            <a:extLst>
              <a:ext uri="{FF2B5EF4-FFF2-40B4-BE49-F238E27FC236}">
                <a16:creationId xmlns:a16="http://schemas.microsoft.com/office/drawing/2014/main" id="{D3DB8842-FB4C-4226-8403-3D2DC1AA5C56}"/>
              </a:ext>
            </a:extLst>
          </p:cNvPr>
          <p:cNvSpPr>
            <a:spLocks noGrp="1"/>
          </p:cNvSpPr>
          <p:nvPr/>
        </p:nvSpPr>
        <p:spPr>
          <a:xfrm flipH="1">
            <a:off x="7661229" y="4442270"/>
            <a:ext cx="1273221" cy="171908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92" name="Straight Connector 91">
            <a:extLst>
              <a:ext uri="{FF2B5EF4-FFF2-40B4-BE49-F238E27FC236}">
                <a16:creationId xmlns:a16="http://schemas.microsoft.com/office/drawing/2014/main" id="{896B9FE0-C74E-4A6E-B6AB-E60B0C5BD413}"/>
              </a:ext>
            </a:extLst>
          </p:cNvPr>
          <p:cNvSpPr>
            <a:spLocks noGrp="1"/>
          </p:cNvSpPr>
          <p:nvPr/>
        </p:nvSpPr>
        <p:spPr>
          <a:xfrm>
            <a:off x="10207671" y="4614177"/>
            <a:ext cx="527385" cy="41502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93" name="Straight Connector 92">
            <a:extLst>
              <a:ext uri="{FF2B5EF4-FFF2-40B4-BE49-F238E27FC236}">
                <a16:creationId xmlns:a16="http://schemas.microsoft.com/office/drawing/2014/main" id="{514E3D3A-3846-4FC3-A79E-DDD93DF9340E}"/>
              </a:ext>
            </a:extLst>
          </p:cNvPr>
          <p:cNvSpPr>
            <a:spLocks noGrp="1"/>
          </p:cNvSpPr>
          <p:nvPr/>
        </p:nvSpPr>
        <p:spPr>
          <a:xfrm>
            <a:off x="10207671" y="4614177"/>
            <a:ext cx="0" cy="830045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94" name="Straight Connector 93">
            <a:extLst>
              <a:ext uri="{FF2B5EF4-FFF2-40B4-BE49-F238E27FC236}">
                <a16:creationId xmlns:a16="http://schemas.microsoft.com/office/drawing/2014/main" id="{B6783A04-46CC-40FA-BC58-AFD508512640}"/>
              </a:ext>
            </a:extLst>
          </p:cNvPr>
          <p:cNvSpPr>
            <a:spLocks noGrp="1"/>
          </p:cNvSpPr>
          <p:nvPr/>
        </p:nvSpPr>
        <p:spPr>
          <a:xfrm flipH="1">
            <a:off x="8934450" y="4614177"/>
            <a:ext cx="1273221" cy="100195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95" name="Straight Connector 94">
            <a:extLst>
              <a:ext uri="{FF2B5EF4-FFF2-40B4-BE49-F238E27FC236}">
                <a16:creationId xmlns:a16="http://schemas.microsoft.com/office/drawing/2014/main" id="{9E32CBE3-F4CD-4049-ACE1-D9D15F38F442}"/>
              </a:ext>
            </a:extLst>
          </p:cNvPr>
          <p:cNvSpPr>
            <a:spLocks noGrp="1"/>
          </p:cNvSpPr>
          <p:nvPr/>
        </p:nvSpPr>
        <p:spPr>
          <a:xfrm flipH="1">
            <a:off x="7661229" y="4614177"/>
            <a:ext cx="2546441" cy="830045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96" name="Straight Connector 95">
            <a:extLst>
              <a:ext uri="{FF2B5EF4-FFF2-40B4-BE49-F238E27FC236}">
                <a16:creationId xmlns:a16="http://schemas.microsoft.com/office/drawing/2014/main" id="{4381AD43-897B-4C47-8201-F71A33BFB581}"/>
              </a:ext>
            </a:extLst>
          </p:cNvPr>
          <p:cNvSpPr>
            <a:spLocks noGrp="1"/>
          </p:cNvSpPr>
          <p:nvPr/>
        </p:nvSpPr>
        <p:spPr>
          <a:xfrm flipH="1">
            <a:off x="7133844" y="4614177"/>
            <a:ext cx="3073827" cy="41502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97" name="Straight Connector 96">
            <a:extLst>
              <a:ext uri="{FF2B5EF4-FFF2-40B4-BE49-F238E27FC236}">
                <a16:creationId xmlns:a16="http://schemas.microsoft.com/office/drawing/2014/main" id="{CC159D7C-1EB3-443A-8D86-910930EF22C8}"/>
              </a:ext>
            </a:extLst>
          </p:cNvPr>
          <p:cNvSpPr>
            <a:spLocks noGrp="1"/>
          </p:cNvSpPr>
          <p:nvPr/>
        </p:nvSpPr>
        <p:spPr>
          <a:xfrm>
            <a:off x="7661229" y="4614177"/>
            <a:ext cx="2546441" cy="0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98" name="Straight Connector 97">
            <a:extLst>
              <a:ext uri="{FF2B5EF4-FFF2-40B4-BE49-F238E27FC236}">
                <a16:creationId xmlns:a16="http://schemas.microsoft.com/office/drawing/2014/main" id="{E3DB6593-75CB-45B1-B8C6-F0EE8BFEF7B4}"/>
              </a:ext>
            </a:extLst>
          </p:cNvPr>
          <p:cNvSpPr>
            <a:spLocks noGrp="1"/>
          </p:cNvSpPr>
          <p:nvPr/>
        </p:nvSpPr>
        <p:spPr>
          <a:xfrm flipH="1">
            <a:off x="10207671" y="5029200"/>
            <a:ext cx="527385" cy="41502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99" name="Straight Connector 98">
            <a:extLst>
              <a:ext uri="{FF2B5EF4-FFF2-40B4-BE49-F238E27FC236}">
                <a16:creationId xmlns:a16="http://schemas.microsoft.com/office/drawing/2014/main" id="{6DA5DE21-EFD1-40D1-8629-2605B4E7BCC2}"/>
              </a:ext>
            </a:extLst>
          </p:cNvPr>
          <p:cNvSpPr>
            <a:spLocks noGrp="1"/>
          </p:cNvSpPr>
          <p:nvPr/>
        </p:nvSpPr>
        <p:spPr>
          <a:xfrm flipH="1">
            <a:off x="8934450" y="5029200"/>
            <a:ext cx="1800606" cy="586931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00" name="Straight Connector 99">
            <a:extLst>
              <a:ext uri="{FF2B5EF4-FFF2-40B4-BE49-F238E27FC236}">
                <a16:creationId xmlns:a16="http://schemas.microsoft.com/office/drawing/2014/main" id="{5B30B0B5-7B04-4983-B1BA-A6059AF6827E}"/>
              </a:ext>
            </a:extLst>
          </p:cNvPr>
          <p:cNvSpPr>
            <a:spLocks noGrp="1"/>
          </p:cNvSpPr>
          <p:nvPr/>
        </p:nvSpPr>
        <p:spPr>
          <a:xfrm flipH="1">
            <a:off x="7661229" y="5029200"/>
            <a:ext cx="3073827" cy="41502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01" name="Straight Connector 100">
            <a:extLst>
              <a:ext uri="{FF2B5EF4-FFF2-40B4-BE49-F238E27FC236}">
                <a16:creationId xmlns:a16="http://schemas.microsoft.com/office/drawing/2014/main" id="{B6783ED5-42C9-4E26-A1A0-7FE23F4104C9}"/>
              </a:ext>
            </a:extLst>
          </p:cNvPr>
          <p:cNvSpPr>
            <a:spLocks noGrp="1"/>
          </p:cNvSpPr>
          <p:nvPr/>
        </p:nvSpPr>
        <p:spPr>
          <a:xfrm>
            <a:off x="7133844" y="5029200"/>
            <a:ext cx="3601212" cy="0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02" name="Straight Connector 101">
            <a:extLst>
              <a:ext uri="{FF2B5EF4-FFF2-40B4-BE49-F238E27FC236}">
                <a16:creationId xmlns:a16="http://schemas.microsoft.com/office/drawing/2014/main" id="{135D2A69-0211-4443-A6FF-F26B8D72C702}"/>
              </a:ext>
            </a:extLst>
          </p:cNvPr>
          <p:cNvSpPr>
            <a:spLocks noGrp="1"/>
          </p:cNvSpPr>
          <p:nvPr/>
        </p:nvSpPr>
        <p:spPr>
          <a:xfrm>
            <a:off x="7661229" y="4614177"/>
            <a:ext cx="3073827" cy="41502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03" name="Straight Connector 102">
            <a:extLst>
              <a:ext uri="{FF2B5EF4-FFF2-40B4-BE49-F238E27FC236}">
                <a16:creationId xmlns:a16="http://schemas.microsoft.com/office/drawing/2014/main" id="{DADB7C0A-DD7F-4A3D-A3D1-AF3E03285EC8}"/>
              </a:ext>
            </a:extLst>
          </p:cNvPr>
          <p:cNvSpPr>
            <a:spLocks noGrp="1"/>
          </p:cNvSpPr>
          <p:nvPr/>
        </p:nvSpPr>
        <p:spPr>
          <a:xfrm flipH="1">
            <a:off x="8934450" y="5444223"/>
            <a:ext cx="1273221" cy="171908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04" name="Straight Connector 103">
            <a:extLst>
              <a:ext uri="{FF2B5EF4-FFF2-40B4-BE49-F238E27FC236}">
                <a16:creationId xmlns:a16="http://schemas.microsoft.com/office/drawing/2014/main" id="{0E2F8638-95BF-4E66-B1B0-5DB474406BF3}"/>
              </a:ext>
            </a:extLst>
          </p:cNvPr>
          <p:cNvSpPr>
            <a:spLocks noGrp="1"/>
          </p:cNvSpPr>
          <p:nvPr/>
        </p:nvSpPr>
        <p:spPr>
          <a:xfrm>
            <a:off x="7661229" y="5444223"/>
            <a:ext cx="2546441" cy="0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05" name="Straight Connector 104">
            <a:extLst>
              <a:ext uri="{FF2B5EF4-FFF2-40B4-BE49-F238E27FC236}">
                <a16:creationId xmlns:a16="http://schemas.microsoft.com/office/drawing/2014/main" id="{05AD6AB0-D203-4137-991B-62B7ED278F8C}"/>
              </a:ext>
            </a:extLst>
          </p:cNvPr>
          <p:cNvSpPr>
            <a:spLocks noGrp="1"/>
          </p:cNvSpPr>
          <p:nvPr/>
        </p:nvSpPr>
        <p:spPr>
          <a:xfrm>
            <a:off x="7133844" y="5029200"/>
            <a:ext cx="3073827" cy="41502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06" name="Straight Connector 105">
            <a:extLst>
              <a:ext uri="{FF2B5EF4-FFF2-40B4-BE49-F238E27FC236}">
                <a16:creationId xmlns:a16="http://schemas.microsoft.com/office/drawing/2014/main" id="{9DFE6A13-9047-4D68-80F3-67F2FFE84BBC}"/>
              </a:ext>
            </a:extLst>
          </p:cNvPr>
          <p:cNvSpPr>
            <a:spLocks noGrp="1"/>
          </p:cNvSpPr>
          <p:nvPr/>
        </p:nvSpPr>
        <p:spPr>
          <a:xfrm>
            <a:off x="7661229" y="4614177"/>
            <a:ext cx="2546441" cy="830045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07" name="Straight Connector 106">
            <a:extLst>
              <a:ext uri="{FF2B5EF4-FFF2-40B4-BE49-F238E27FC236}">
                <a16:creationId xmlns:a16="http://schemas.microsoft.com/office/drawing/2014/main" id="{CB3590F2-E0C4-4399-9604-A72B1255DAB8}"/>
              </a:ext>
            </a:extLst>
          </p:cNvPr>
          <p:cNvSpPr>
            <a:spLocks noGrp="1"/>
          </p:cNvSpPr>
          <p:nvPr/>
        </p:nvSpPr>
        <p:spPr>
          <a:xfrm>
            <a:off x="7661229" y="5444223"/>
            <a:ext cx="1273221" cy="171908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08" name="Straight Connector 107">
            <a:extLst>
              <a:ext uri="{FF2B5EF4-FFF2-40B4-BE49-F238E27FC236}">
                <a16:creationId xmlns:a16="http://schemas.microsoft.com/office/drawing/2014/main" id="{7D456C71-0400-4B24-98A9-46A7B30F37AE}"/>
              </a:ext>
            </a:extLst>
          </p:cNvPr>
          <p:cNvSpPr>
            <a:spLocks noGrp="1"/>
          </p:cNvSpPr>
          <p:nvPr/>
        </p:nvSpPr>
        <p:spPr>
          <a:xfrm>
            <a:off x="7133844" y="5029200"/>
            <a:ext cx="1800606" cy="586931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09" name="Straight Connector 108">
            <a:extLst>
              <a:ext uri="{FF2B5EF4-FFF2-40B4-BE49-F238E27FC236}">
                <a16:creationId xmlns:a16="http://schemas.microsoft.com/office/drawing/2014/main" id="{8C355EC8-151F-4911-A5B6-41E46D8130EC}"/>
              </a:ext>
            </a:extLst>
          </p:cNvPr>
          <p:cNvSpPr>
            <a:spLocks noGrp="1"/>
          </p:cNvSpPr>
          <p:nvPr/>
        </p:nvSpPr>
        <p:spPr>
          <a:xfrm>
            <a:off x="7661229" y="4614177"/>
            <a:ext cx="1273221" cy="100195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10" name="Straight Connector 109">
            <a:extLst>
              <a:ext uri="{FF2B5EF4-FFF2-40B4-BE49-F238E27FC236}">
                <a16:creationId xmlns:a16="http://schemas.microsoft.com/office/drawing/2014/main" id="{9AD2C67F-183E-4315-ADD4-38DE7106C34C}"/>
              </a:ext>
            </a:extLst>
          </p:cNvPr>
          <p:cNvSpPr>
            <a:spLocks noGrp="1"/>
          </p:cNvSpPr>
          <p:nvPr/>
        </p:nvSpPr>
        <p:spPr>
          <a:xfrm>
            <a:off x="7133844" y="5029200"/>
            <a:ext cx="527385" cy="41502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11" name="Straight Connector 110">
            <a:extLst>
              <a:ext uri="{FF2B5EF4-FFF2-40B4-BE49-F238E27FC236}">
                <a16:creationId xmlns:a16="http://schemas.microsoft.com/office/drawing/2014/main" id="{06FC54D4-D83B-4FE7-B1AA-E3935F5ACD3A}"/>
              </a:ext>
            </a:extLst>
          </p:cNvPr>
          <p:cNvSpPr>
            <a:spLocks noGrp="1"/>
          </p:cNvSpPr>
          <p:nvPr/>
        </p:nvSpPr>
        <p:spPr>
          <a:xfrm>
            <a:off x="7661229" y="4614177"/>
            <a:ext cx="0" cy="830045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12" name="Straight Connector 111">
            <a:extLst>
              <a:ext uri="{FF2B5EF4-FFF2-40B4-BE49-F238E27FC236}">
                <a16:creationId xmlns:a16="http://schemas.microsoft.com/office/drawing/2014/main" id="{B2879C12-0C08-4C35-B171-5DB2CCEA5BAD}"/>
              </a:ext>
            </a:extLst>
          </p:cNvPr>
          <p:cNvSpPr>
            <a:spLocks noGrp="1"/>
          </p:cNvSpPr>
          <p:nvPr/>
        </p:nvSpPr>
        <p:spPr>
          <a:xfrm flipH="1">
            <a:off x="7133844" y="4614177"/>
            <a:ext cx="527385" cy="415023"/>
          </a:xfrm>
          <a:prstGeom prst="line">
            <a:avLst/>
          </a:prstGeom>
          <a:noFill/>
          <a:ln w="7620">
            <a:solidFill>
              <a:srgbClr val="29445F"/>
            </a:solidFill>
            <a:prstDash val="solid"/>
          </a:ln>
        </p:spPr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F66C3ED7-B57E-44A0-BFEB-B7A5F7F533BE}"/>
              </a:ext>
            </a:extLst>
          </p:cNvPr>
          <p:cNvSpPr>
            <a:spLocks noGrp="1"/>
          </p:cNvSpPr>
          <p:nvPr/>
        </p:nvSpPr>
        <p:spPr>
          <a:xfrm>
            <a:off x="8791575" y="4299395"/>
            <a:ext cx="285750" cy="285750"/>
          </a:xfrm>
          <a:prstGeom prst="ellipse">
            <a:avLst/>
          </a:prstGeom>
          <a:solidFill>
            <a:srgbClr val="7C5CFC"/>
          </a:solidFill>
          <a:ln w="20955">
            <a:solidFill>
              <a:srgbClr val="A899F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37A935A-344C-4828-9CD8-243BBF9B9DF5}"/>
              </a:ext>
            </a:extLst>
          </p:cNvPr>
          <p:cNvSpPr>
            <a:spLocks noGrp="1"/>
          </p:cNvSpPr>
          <p:nvPr/>
        </p:nvSpPr>
        <p:spPr>
          <a:xfrm>
            <a:off x="8863013" y="4599432"/>
            <a:ext cx="142875" cy="38100"/>
          </a:xfrm>
          <a:prstGeom prst="roundRect">
            <a:avLst>
              <a:gd name="adj" fmla="val 25000"/>
            </a:avLst>
          </a:prstGeom>
          <a:solidFill>
            <a:srgbClr val="A899FF"/>
          </a:solidFill>
          <a:ln w="9525">
            <a:solidFill>
              <a:srgbClr val="A899FF"/>
            </a:solidFill>
            <a:prstDash val="solid"/>
          </a:ln>
        </p:spPr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66CB0BF8-88E9-4296-A26C-778D5AB8B619}"/>
              </a:ext>
            </a:extLst>
          </p:cNvPr>
          <p:cNvSpPr>
            <a:spLocks noGrp="1"/>
          </p:cNvSpPr>
          <p:nvPr/>
        </p:nvSpPr>
        <p:spPr>
          <a:xfrm>
            <a:off x="10064796" y="4471302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2DDFD321-6E00-4E08-8746-B850C34553C3}"/>
              </a:ext>
            </a:extLst>
          </p:cNvPr>
          <p:cNvSpPr>
            <a:spLocks noGrp="1"/>
          </p:cNvSpPr>
          <p:nvPr/>
        </p:nvSpPr>
        <p:spPr>
          <a:xfrm>
            <a:off x="10136233" y="4771340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A022671A-4AAB-40AB-A514-76809A543029}"/>
              </a:ext>
            </a:extLst>
          </p:cNvPr>
          <p:cNvSpPr>
            <a:spLocks noGrp="1"/>
          </p:cNvSpPr>
          <p:nvPr/>
        </p:nvSpPr>
        <p:spPr>
          <a:xfrm>
            <a:off x="10592181" y="4886325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9B4D7899-2085-48C1-B44C-D9A17229FD1F}"/>
              </a:ext>
            </a:extLst>
          </p:cNvPr>
          <p:cNvSpPr>
            <a:spLocks noGrp="1"/>
          </p:cNvSpPr>
          <p:nvPr/>
        </p:nvSpPr>
        <p:spPr>
          <a:xfrm>
            <a:off x="10663619" y="5186363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7D9216EE-2428-4065-BE83-034C37E9D754}"/>
              </a:ext>
            </a:extLst>
          </p:cNvPr>
          <p:cNvSpPr>
            <a:spLocks noGrp="1"/>
          </p:cNvSpPr>
          <p:nvPr/>
        </p:nvSpPr>
        <p:spPr>
          <a:xfrm>
            <a:off x="10064796" y="5301348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929BFD56-E303-4DA3-A200-1BB8ABB7A8C1}"/>
              </a:ext>
            </a:extLst>
          </p:cNvPr>
          <p:cNvSpPr>
            <a:spLocks noGrp="1"/>
          </p:cNvSpPr>
          <p:nvPr/>
        </p:nvSpPr>
        <p:spPr>
          <a:xfrm>
            <a:off x="10136233" y="5601385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6D910B9-3A80-4B62-9C5B-E7801381CAE2}"/>
              </a:ext>
            </a:extLst>
          </p:cNvPr>
          <p:cNvSpPr>
            <a:spLocks noGrp="1"/>
          </p:cNvSpPr>
          <p:nvPr/>
        </p:nvSpPr>
        <p:spPr>
          <a:xfrm>
            <a:off x="8791575" y="5473256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E0B217C-F28E-4485-8C1B-1D0671420D19}"/>
              </a:ext>
            </a:extLst>
          </p:cNvPr>
          <p:cNvSpPr>
            <a:spLocks noGrp="1"/>
          </p:cNvSpPr>
          <p:nvPr/>
        </p:nvSpPr>
        <p:spPr>
          <a:xfrm>
            <a:off x="8863013" y="5773293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8ECF8F63-2A0F-46A6-9B7F-43F7D6D8D875}"/>
              </a:ext>
            </a:extLst>
          </p:cNvPr>
          <p:cNvSpPr>
            <a:spLocks noGrp="1"/>
          </p:cNvSpPr>
          <p:nvPr/>
        </p:nvSpPr>
        <p:spPr>
          <a:xfrm>
            <a:off x="7518354" y="5301348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B67B5722-D505-4CE5-A106-3B7673C88CF7}"/>
              </a:ext>
            </a:extLst>
          </p:cNvPr>
          <p:cNvSpPr>
            <a:spLocks noGrp="1"/>
          </p:cNvSpPr>
          <p:nvPr/>
        </p:nvSpPr>
        <p:spPr>
          <a:xfrm>
            <a:off x="7589792" y="5601385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1C326B78-B71B-407B-A189-5EEB41A52890}"/>
              </a:ext>
            </a:extLst>
          </p:cNvPr>
          <p:cNvSpPr>
            <a:spLocks noGrp="1"/>
          </p:cNvSpPr>
          <p:nvPr/>
        </p:nvSpPr>
        <p:spPr>
          <a:xfrm>
            <a:off x="6990969" y="4886325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BF4130F7-627A-469F-BD86-D0E9A0CA78DC}"/>
              </a:ext>
            </a:extLst>
          </p:cNvPr>
          <p:cNvSpPr>
            <a:spLocks noGrp="1"/>
          </p:cNvSpPr>
          <p:nvPr/>
        </p:nvSpPr>
        <p:spPr>
          <a:xfrm>
            <a:off x="7062407" y="5186363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69FFF990-2623-4311-9654-4DA81D0AADAD}"/>
              </a:ext>
            </a:extLst>
          </p:cNvPr>
          <p:cNvSpPr>
            <a:spLocks noGrp="1"/>
          </p:cNvSpPr>
          <p:nvPr/>
        </p:nvSpPr>
        <p:spPr>
          <a:xfrm>
            <a:off x="7518354" y="4471302"/>
            <a:ext cx="285750" cy="285750"/>
          </a:xfrm>
          <a:prstGeom prst="ellipse">
            <a:avLst/>
          </a:prstGeom>
          <a:solidFill>
            <a:srgbClr val="143454"/>
          </a:solidFill>
          <a:ln w="12383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600E23BF-1433-44D8-8726-6E406D34BBFB}"/>
              </a:ext>
            </a:extLst>
          </p:cNvPr>
          <p:cNvSpPr>
            <a:spLocks noGrp="1"/>
          </p:cNvSpPr>
          <p:nvPr/>
        </p:nvSpPr>
        <p:spPr>
          <a:xfrm>
            <a:off x="7589792" y="4771340"/>
            <a:ext cx="142875" cy="38100"/>
          </a:xfrm>
          <a:prstGeom prst="roundRect">
            <a:avLst>
              <a:gd name="adj" fmla="val 25000"/>
            </a:avLst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1408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8F93580-28FA-45A4-9DC7-393219A09C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1E332-1B2E-4A2F-8922-3DCF238499FE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0F963F-F3E9-4191-AB20-2E1C40095B3C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</a:t>
            </a:r>
            <a:r>
              <a:rPr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outer transaction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A16C3-E237-45D1-A82E-4CC7BEF7EBD1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6</a:t>
            </a:r>
            <a:endParaRPr sz="1500" b="1" i="0" dirty="0">
              <a:solidFill>
                <a:srgbClr val="A899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3157FC3-ABBB-4AD5-A96B-C66A598CBA94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758A1-FA5A-4242-9217-605BEF81D7A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201A10B-C493-4967-9FC8-D54C61C3EA13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7C5CFC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83D73C-C80C-4A4F-A9A2-FCAA08EA0D21}"/>
              </a:ext>
            </a:extLst>
          </p:cNvPr>
          <p:cNvSpPr>
            <a:spLocks noGrp="1"/>
          </p:cNvSpPr>
          <p:nvPr/>
        </p:nvSpPr>
        <p:spPr>
          <a:xfrm>
            <a:off x="755110" y="1706391"/>
            <a:ext cx="1733550" cy="590550"/>
          </a:xfrm>
          <a:prstGeom prst="roundRect">
            <a:avLst>
              <a:gd name="adj" fmla="val 12903"/>
            </a:avLst>
          </a:prstGeom>
          <a:solidFill>
            <a:srgbClr val="143454"/>
          </a:solidFill>
          <a:ln w="19050">
            <a:solidFill>
              <a:srgbClr val="18C2B5"/>
            </a:solidFill>
            <a:prstDash val="solid"/>
          </a:ln>
        </p:spPr>
        <p:txBody>
          <a:bodyPr wrap="square" lIns="152400" tIns="95250" rIns="114300" bIns="7620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Receive Interest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2D4CA8-02BC-4DA1-9DAC-004CF20A47B3}"/>
              </a:ext>
            </a:extLst>
          </p:cNvPr>
          <p:cNvSpPr>
            <a:spLocks noGrp="1"/>
          </p:cNvSpPr>
          <p:nvPr/>
        </p:nvSpPr>
        <p:spPr>
          <a:xfrm>
            <a:off x="3022060" y="1706391"/>
            <a:ext cx="1924050" cy="590550"/>
          </a:xfrm>
          <a:prstGeom prst="roundRect">
            <a:avLst>
              <a:gd name="adj" fmla="val 12903"/>
            </a:avLst>
          </a:prstGeom>
          <a:solidFill>
            <a:srgbClr val="143454"/>
          </a:solidFill>
          <a:ln w="19050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Check local CS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F685BFDD-39BA-4776-A128-7B1C9FE7E46E}"/>
              </a:ext>
            </a:extLst>
          </p:cNvPr>
          <p:cNvSpPr>
            <a:spLocks noGrp="1"/>
          </p:cNvSpPr>
          <p:nvPr/>
        </p:nvSpPr>
        <p:spPr>
          <a:xfrm>
            <a:off x="5498561" y="1563516"/>
            <a:ext cx="1333499" cy="876300"/>
          </a:xfrm>
          <a:prstGeom prst="diamond">
            <a:avLst/>
          </a:prstGeom>
          <a:solidFill>
            <a:srgbClr val="102A4C"/>
          </a:solidFill>
          <a:ln w="19050">
            <a:solidFill>
              <a:srgbClr val="F59E0B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Fresh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hit?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E16038-4EEB-4EEE-A506-CA3F82C78194}"/>
              </a:ext>
            </a:extLst>
          </p:cNvPr>
          <p:cNvSpPr>
            <a:spLocks noGrp="1"/>
          </p:cNvSpPr>
          <p:nvPr/>
        </p:nvSpPr>
        <p:spPr>
          <a:xfrm>
            <a:off x="7581900" y="1620666"/>
            <a:ext cx="3562350" cy="762000"/>
          </a:xfrm>
          <a:prstGeom prst="roundRect">
            <a:avLst>
              <a:gd name="adj" fmla="val 10000"/>
            </a:avLst>
          </a:prstGeom>
          <a:solidFill>
            <a:srgbClr val="123D35"/>
          </a:solidFill>
          <a:ln w="19050">
            <a:solidFill>
              <a:srgbClr val="22C55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Answer Interest  ·  local reward = 1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No replacement scoring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526DB0-3BEC-4351-97BE-518C49BC2C18}"/>
              </a:ext>
            </a:extLst>
          </p:cNvPr>
          <p:cNvSpPr>
            <a:spLocks noGrp="1"/>
          </p:cNvSpPr>
          <p:nvPr/>
        </p:nvSpPr>
        <p:spPr>
          <a:xfrm>
            <a:off x="4883488" y="3071812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3A2A18"/>
          </a:solidFill>
          <a:ln w="19050">
            <a:solidFill>
              <a:srgbClr val="F59E0B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Forward with </a:t>
            </a:r>
            <a:r>
              <a:rPr lang="en-US"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forwarding table  ·  </a:t>
            </a:r>
            <a:r>
              <a:rPr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local reward = 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7A8C64-527E-4876-BA92-005FC6540F3F}"/>
              </a:ext>
            </a:extLst>
          </p:cNvPr>
          <p:cNvSpPr>
            <a:spLocks noGrp="1"/>
          </p:cNvSpPr>
          <p:nvPr/>
        </p:nvSpPr>
        <p:spPr>
          <a:xfrm>
            <a:off x="1124934" y="3071812"/>
            <a:ext cx="2305050" cy="723900"/>
          </a:xfrm>
          <a:prstGeom prst="roundRect">
            <a:avLst>
              <a:gd name="adj" fmla="val 10526"/>
            </a:avLst>
          </a:prstGeom>
          <a:solidFill>
            <a:srgbClr val="143454"/>
          </a:solidFill>
          <a:ln w="19050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Data returns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from cache or producer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68E3F329-A2D8-4371-BD88-9BE528C8C6CE}"/>
              </a:ext>
            </a:extLst>
          </p:cNvPr>
          <p:cNvSpPr>
            <a:spLocks noGrp="1"/>
          </p:cNvSpPr>
          <p:nvPr/>
        </p:nvSpPr>
        <p:spPr>
          <a:xfrm>
            <a:off x="1645393" y="4301954"/>
            <a:ext cx="1257300" cy="895350"/>
          </a:xfrm>
          <a:prstGeom prst="diamond">
            <a:avLst/>
          </a:prstGeom>
          <a:solidFill>
            <a:srgbClr val="102A4C"/>
          </a:solidFill>
          <a:ln w="19050">
            <a:solidFill>
              <a:srgbClr val="F59E0B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Free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slot?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D0CDE59-95E6-49A5-8B25-287959E45C15}"/>
              </a:ext>
            </a:extLst>
          </p:cNvPr>
          <p:cNvSpPr>
            <a:spLocks noGrp="1"/>
          </p:cNvSpPr>
          <p:nvPr/>
        </p:nvSpPr>
        <p:spPr>
          <a:xfrm>
            <a:off x="4210050" y="4406729"/>
            <a:ext cx="1676400" cy="685800"/>
          </a:xfrm>
          <a:prstGeom prst="roundRect">
            <a:avLst>
              <a:gd name="adj" fmla="val 11111"/>
            </a:avLst>
          </a:prstGeom>
          <a:solidFill>
            <a:srgbClr val="123D35"/>
          </a:solidFill>
          <a:ln w="19050">
            <a:solidFill>
              <a:srgbClr val="22C55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Insert Data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A9CA0CB-60FD-49F7-9D7B-D8B6C62692D0}"/>
              </a:ext>
            </a:extLst>
          </p:cNvPr>
          <p:cNvSpPr>
            <a:spLocks noGrp="1"/>
          </p:cNvSpPr>
          <p:nvPr/>
        </p:nvSpPr>
        <p:spPr>
          <a:xfrm>
            <a:off x="3971925" y="5472112"/>
            <a:ext cx="2152650" cy="647700"/>
          </a:xfrm>
          <a:prstGeom prst="roundRect">
            <a:avLst>
              <a:gd name="adj" fmla="val 11765"/>
            </a:avLst>
          </a:prstGeom>
          <a:solidFill>
            <a:srgbClr val="143454"/>
          </a:solidFill>
          <a:ln w="19050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Select the 8 least recently used items</a:t>
            </a:r>
            <a:endParaRPr sz="1500" b="1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A41FF8-17CE-461B-A084-FFA05BAC7A91}"/>
              </a:ext>
            </a:extLst>
          </p:cNvPr>
          <p:cNvSpPr>
            <a:spLocks noGrp="1"/>
          </p:cNvSpPr>
          <p:nvPr/>
        </p:nvSpPr>
        <p:spPr>
          <a:xfrm>
            <a:off x="6696075" y="5472112"/>
            <a:ext cx="2152650" cy="647700"/>
          </a:xfrm>
          <a:prstGeom prst="roundRect">
            <a:avLst>
              <a:gd name="adj" fmla="val 11765"/>
            </a:avLst>
          </a:prstGeom>
          <a:solidFill>
            <a:srgbClr val="143454"/>
          </a:solidFill>
          <a:ln w="19050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Compute</a:t>
            </a:r>
            <a:r>
              <a:rPr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score</a:t>
            </a:r>
            <a:r>
              <a:rPr lang="en-US" sz="15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</a:t>
            </a:r>
            <a:endParaRPr sz="1500" b="1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97015A0-A717-473B-8E65-6773C073166D}"/>
              </a:ext>
            </a:extLst>
          </p:cNvPr>
          <p:cNvSpPr>
            <a:spLocks noGrp="1"/>
          </p:cNvSpPr>
          <p:nvPr/>
        </p:nvSpPr>
        <p:spPr>
          <a:xfrm>
            <a:off x="9420225" y="5472112"/>
            <a:ext cx="1733550" cy="647700"/>
          </a:xfrm>
          <a:prstGeom prst="roundRect">
            <a:avLst>
              <a:gd name="adj" fmla="val 11765"/>
            </a:avLst>
          </a:prstGeom>
          <a:solidFill>
            <a:srgbClr val="3A2033"/>
          </a:solidFill>
          <a:ln w="19050">
            <a:solidFill>
              <a:srgbClr val="EF6A5B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Evict + insert</a:t>
            </a:r>
          </a:p>
        </p:txBody>
      </p:sp>
      <p:cxnSp>
        <p:nvCxnSpPr>
          <p:cNvPr id="54" name="Straight Arrow Connector 53"/>
          <p:cNvCxnSpPr>
            <a:stCxn id="8" idx="3"/>
            <a:endCxn id="9" idx="1"/>
          </p:cNvCxnSpPr>
          <p:nvPr/>
        </p:nvCxnSpPr>
        <p:spPr>
          <a:xfrm>
            <a:off x="2488660" y="2001666"/>
            <a:ext cx="533400" cy="0"/>
          </a:xfrm>
          <a:prstGeom prst="straightConnector1">
            <a:avLst/>
          </a:prstGeom>
          <a:ln w="76200">
            <a:solidFill>
              <a:srgbClr val="18C2B5"/>
            </a:solidFill>
            <a:prstDash val="solid"/>
            <a:tailEnd type="triangle" w="sm" len="sm"/>
          </a:ln>
        </p:spPr>
      </p:cxnSp>
      <p:cxnSp>
        <p:nvCxnSpPr>
          <p:cNvPr id="55" name="Straight Arrow Connector 54"/>
          <p:cNvCxnSpPr>
            <a:cxnSpLocks/>
            <a:stCxn id="9" idx="3"/>
            <a:endCxn id="10" idx="1"/>
          </p:cNvCxnSpPr>
          <p:nvPr/>
        </p:nvCxnSpPr>
        <p:spPr>
          <a:xfrm>
            <a:off x="4946110" y="2001666"/>
            <a:ext cx="552451" cy="0"/>
          </a:xfrm>
          <a:prstGeom prst="straightConnector1">
            <a:avLst/>
          </a:prstGeom>
          <a:ln w="76200">
            <a:solidFill>
              <a:srgbClr val="18C2B5"/>
            </a:solidFill>
            <a:prstDash val="solid"/>
            <a:tailEnd type="triangle" w="sm" len="sm"/>
          </a:ln>
        </p:spPr>
      </p:cxnSp>
      <p:cxnSp>
        <p:nvCxnSpPr>
          <p:cNvPr id="56" name="Straight Arrow Connector 55"/>
          <p:cNvCxnSpPr>
            <a:cxnSpLocks/>
            <a:stCxn id="10" idx="3"/>
            <a:endCxn id="11" idx="1"/>
          </p:cNvCxnSpPr>
          <p:nvPr/>
        </p:nvCxnSpPr>
        <p:spPr>
          <a:xfrm>
            <a:off x="6832060" y="2001666"/>
            <a:ext cx="749840" cy="0"/>
          </a:xfrm>
          <a:prstGeom prst="straightConnector1">
            <a:avLst/>
          </a:prstGeom>
          <a:ln w="76200">
            <a:solidFill>
              <a:srgbClr val="22C55E"/>
            </a:solidFill>
            <a:prstDash val="solid"/>
            <a:tailEnd type="triangle" w="sm" len="sm"/>
          </a:ln>
        </p:spPr>
      </p:cxnSp>
      <p:cxnSp>
        <p:nvCxnSpPr>
          <p:cNvPr id="57" name="Connector: Elbow 56"/>
          <p:cNvCxnSpPr>
            <a:cxnSpLocks/>
            <a:stCxn id="10" idx="2"/>
            <a:endCxn id="12" idx="0"/>
          </p:cNvCxnSpPr>
          <p:nvPr/>
        </p:nvCxnSpPr>
        <p:spPr>
          <a:xfrm rot="5400000">
            <a:off x="5846577" y="2753078"/>
            <a:ext cx="631996" cy="5473"/>
          </a:xfrm>
          <a:prstGeom prst="bentConnector3">
            <a:avLst>
              <a:gd name="adj1" fmla="val 50000"/>
            </a:avLst>
          </a:prstGeom>
          <a:ln w="7620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58" name="Straight Arrow Connector 57"/>
          <p:cNvCxnSpPr>
            <a:cxnSpLocks/>
            <a:stCxn id="12" idx="1"/>
            <a:endCxn id="13" idx="3"/>
          </p:cNvCxnSpPr>
          <p:nvPr/>
        </p:nvCxnSpPr>
        <p:spPr>
          <a:xfrm flipH="1">
            <a:off x="3429984" y="3433762"/>
            <a:ext cx="1453504" cy="0"/>
          </a:xfrm>
          <a:prstGeom prst="straightConnector1">
            <a:avLst/>
          </a:prstGeom>
          <a:ln w="76200">
            <a:solidFill>
              <a:srgbClr val="A899FF"/>
            </a:solidFill>
            <a:prstDash val="solid"/>
            <a:tailEnd type="triangle" w="sm" len="sm"/>
          </a:ln>
        </p:spPr>
      </p:cxnSp>
      <p:cxnSp>
        <p:nvCxnSpPr>
          <p:cNvPr id="59" name="Connector: Elbow 58"/>
          <p:cNvCxnSpPr>
            <a:stCxn id="13" idx="2"/>
            <a:endCxn id="14" idx="0"/>
          </p:cNvCxnSpPr>
          <p:nvPr/>
        </p:nvCxnSpPr>
        <p:spPr>
          <a:xfrm rot="5400000">
            <a:off x="2022630" y="4047125"/>
            <a:ext cx="506242" cy="3416"/>
          </a:xfrm>
          <a:prstGeom prst="bentConnector3">
            <a:avLst>
              <a:gd name="adj1" fmla="val 50000"/>
            </a:avLst>
          </a:prstGeom>
          <a:ln w="76200">
            <a:solidFill>
              <a:srgbClr val="A899FF"/>
            </a:solidFill>
            <a:prstDash val="solid"/>
            <a:tailEnd type="triangle" w="sm" len="sm"/>
          </a:ln>
        </p:spPr>
      </p:cxnSp>
      <p:cxnSp>
        <p:nvCxnSpPr>
          <p:cNvPr id="60" name="Straight Arrow Connector 59"/>
          <p:cNvCxnSpPr>
            <a:cxnSpLocks/>
            <a:stCxn id="14" idx="3"/>
            <a:endCxn id="15" idx="1"/>
          </p:cNvCxnSpPr>
          <p:nvPr/>
        </p:nvCxnSpPr>
        <p:spPr>
          <a:xfrm>
            <a:off x="2902693" y="4749629"/>
            <a:ext cx="1307357" cy="0"/>
          </a:xfrm>
          <a:prstGeom prst="straightConnector1">
            <a:avLst/>
          </a:prstGeom>
          <a:ln w="76200">
            <a:solidFill>
              <a:srgbClr val="22C55E"/>
            </a:solidFill>
            <a:prstDash val="solid"/>
            <a:tailEnd type="triangle" w="sm" len="sm"/>
          </a:ln>
        </p:spPr>
      </p:cxnSp>
      <p:cxnSp>
        <p:nvCxnSpPr>
          <p:cNvPr id="61" name="Connector: Elbow 60"/>
          <p:cNvCxnSpPr>
            <a:cxnSpLocks/>
            <a:stCxn id="14" idx="2"/>
            <a:endCxn id="16" idx="1"/>
          </p:cNvCxnSpPr>
          <p:nvPr/>
        </p:nvCxnSpPr>
        <p:spPr>
          <a:xfrm rot="16200000" flipH="1">
            <a:off x="2823655" y="4647692"/>
            <a:ext cx="598658" cy="1697882"/>
          </a:xfrm>
          <a:prstGeom prst="bentConnector2">
            <a:avLst/>
          </a:prstGeom>
          <a:ln w="7620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62" name="Straight Arrow Connector 61"/>
          <p:cNvCxnSpPr>
            <a:stCxn id="16" idx="3"/>
            <a:endCxn id="17" idx="1"/>
          </p:cNvCxnSpPr>
          <p:nvPr/>
        </p:nvCxnSpPr>
        <p:spPr>
          <a:xfrm>
            <a:off x="6124575" y="5795962"/>
            <a:ext cx="571500" cy="0"/>
          </a:xfrm>
          <a:prstGeom prst="straightConnector1">
            <a:avLst/>
          </a:prstGeom>
          <a:ln w="76200">
            <a:solidFill>
              <a:srgbClr val="7C5CFC"/>
            </a:solidFill>
            <a:prstDash val="solid"/>
            <a:tailEnd type="triangle" w="sm" len="sm"/>
          </a:ln>
        </p:spPr>
      </p:cxnSp>
      <p:cxnSp>
        <p:nvCxnSpPr>
          <p:cNvPr id="63" name="Straight Arrow Connector 62"/>
          <p:cNvCxnSpPr>
            <a:stCxn id="17" idx="3"/>
            <a:endCxn id="18" idx="1"/>
          </p:cNvCxnSpPr>
          <p:nvPr/>
        </p:nvCxnSpPr>
        <p:spPr>
          <a:xfrm>
            <a:off x="8848725" y="5795962"/>
            <a:ext cx="571500" cy="0"/>
          </a:xfrm>
          <a:prstGeom prst="straightConnector1">
            <a:avLst/>
          </a:prstGeom>
          <a:ln w="76200">
            <a:solidFill>
              <a:srgbClr val="EF6A5B"/>
            </a:solidFill>
            <a:prstDash val="solid"/>
            <a:tailEnd type="triangle" w="sm" len="sm"/>
          </a:ln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D97B065-9A20-4497-9C9C-448F8B9FFAAC}"/>
              </a:ext>
            </a:extLst>
          </p:cNvPr>
          <p:cNvSpPr>
            <a:spLocks noGrp="1"/>
          </p:cNvSpPr>
          <p:nvPr/>
        </p:nvSpPr>
        <p:spPr>
          <a:xfrm>
            <a:off x="7022560" y="1744491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C55E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B094A0-C907-4CEB-81C4-1FFA098077BB}"/>
              </a:ext>
            </a:extLst>
          </p:cNvPr>
          <p:cNvSpPr>
            <a:spLocks noGrp="1"/>
          </p:cNvSpPr>
          <p:nvPr/>
        </p:nvSpPr>
        <p:spPr>
          <a:xfrm>
            <a:off x="6317710" y="2535066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FB7AA5-78A6-4C8B-86C3-6EEC994FE1A8}"/>
              </a:ext>
            </a:extLst>
          </p:cNvPr>
          <p:cNvSpPr>
            <a:spLocks noGrp="1"/>
          </p:cNvSpPr>
          <p:nvPr/>
        </p:nvSpPr>
        <p:spPr>
          <a:xfrm>
            <a:off x="3238500" y="4511504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 i="0" dirty="0">
                <a:solidFill>
                  <a:srgbClr val="22C55E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384DBA-F7A9-46CE-B8B2-E4054173BD28}"/>
              </a:ext>
            </a:extLst>
          </p:cNvPr>
          <p:cNvSpPr>
            <a:spLocks noGrp="1"/>
          </p:cNvSpPr>
          <p:nvPr/>
        </p:nvSpPr>
        <p:spPr>
          <a:xfrm>
            <a:off x="2819400" y="5557837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 i="0" dirty="0">
                <a:solidFill>
                  <a:srgbClr val="F59E0B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78689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B060CC3-378C-42B5-8C0F-303397C0B3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E97418-E09C-4BAF-9BBD-7901B1C95CE7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4D7132-421E-46CF-B742-118BD5CA6EBB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Computing the </a:t>
            </a:r>
            <a:r>
              <a:rPr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score</a:t>
            </a:r>
            <a:r>
              <a:rPr lang="en-US"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</a:t>
            </a:r>
            <a:endParaRPr sz="3450" b="1" i="0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B907F7-E49C-46AD-B22A-39EBB543B4F7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7</a:t>
            </a:r>
            <a:endParaRPr sz="1500" b="1" i="0" dirty="0">
              <a:solidFill>
                <a:srgbClr val="A899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BC2FC46-D74C-4C23-9830-7C29C1A78AA1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7C583B-3BA9-4C04-9539-A2E20C0841A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598F03D-2024-47AC-AE10-6B1380337F68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7C5CFC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7D9FA0-E884-4385-B27A-00661AE27C77}"/>
              </a:ext>
            </a:extLst>
          </p:cNvPr>
          <p:cNvSpPr>
            <a:spLocks noGrp="1"/>
          </p:cNvSpPr>
          <p:nvPr/>
        </p:nvSpPr>
        <p:spPr>
          <a:xfrm>
            <a:off x="590550" y="1447800"/>
            <a:ext cx="3333750" cy="1295400"/>
          </a:xfrm>
          <a:prstGeom prst="roundRect">
            <a:avLst>
              <a:gd name="adj" fmla="val 8824"/>
            </a:avLst>
          </a:prstGeom>
          <a:solidFill>
            <a:srgbClr val="102A4C"/>
          </a:solidFill>
          <a:ln w="19050">
            <a:solidFill>
              <a:srgbClr val="7C5CF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628CE6-E260-4226-A128-09719DCCA8B4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8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A  Candidate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D73C7D-DB8D-43A5-9AF4-FA8897C6DB3C}"/>
              </a:ext>
            </a:extLst>
          </p:cNvPr>
          <p:cNvSpPr>
            <a:spLocks noGrp="1"/>
          </p:cNvSpPr>
          <p:nvPr/>
        </p:nvSpPr>
        <p:spPr>
          <a:xfrm>
            <a:off x="781050" y="197167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/dataset/item/category-03/000127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009C01-6BA0-4F06-84D7-D7030E6D8A6F}"/>
              </a:ext>
            </a:extLst>
          </p:cNvPr>
          <p:cNvSpPr>
            <a:spLocks noGrp="1"/>
          </p:cNvSpPr>
          <p:nvPr/>
        </p:nvSpPr>
        <p:spPr>
          <a:xfrm>
            <a:off x="781050" y="2295525"/>
            <a:ext cx="295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 dirty="0">
                <a:solidFill>
                  <a:srgbClr val="B7C5D6"/>
                </a:solidFill>
                <a:latin typeface="Aptos"/>
                <a:ea typeface="Aptos"/>
                <a:cs typeface="Aptos"/>
              </a:rPr>
              <a:t>canonical components → stable hash 4,096 → embed 32 → Name LSTM 48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4D6E55-9DF3-42DC-B2AD-60A2D89F19E1}"/>
              </a:ext>
            </a:extLst>
          </p:cNvPr>
          <p:cNvSpPr>
            <a:spLocks noGrp="1"/>
          </p:cNvSpPr>
          <p:nvPr/>
        </p:nvSpPr>
        <p:spPr>
          <a:xfrm>
            <a:off x="590550" y="3028950"/>
            <a:ext cx="3333750" cy="1295400"/>
          </a:xfrm>
          <a:prstGeom prst="roundRect">
            <a:avLst>
              <a:gd name="adj" fmla="val 8824"/>
            </a:avLst>
          </a:prstGeom>
          <a:solidFill>
            <a:srgbClr val="102A4C"/>
          </a:solidFill>
          <a:ln w="19050">
            <a:solidFill>
              <a:srgbClr val="18C2B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274A15-D083-47D7-A37E-EA4B53E8388B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B  Router request history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DD5D80-1C7B-4263-892D-B10FB26A1F0D}"/>
              </a:ext>
            </a:extLst>
          </p:cNvPr>
          <p:cNvSpPr>
            <a:spLocks noGrp="1"/>
          </p:cNvSpPr>
          <p:nvPr/>
        </p:nvSpPr>
        <p:spPr>
          <a:xfrm>
            <a:off x="781050" y="3552825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Interest Names in chronological order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5BE8DB-980E-4FAC-86D5-E0CB0DCA2FDC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 dirty="0">
                <a:solidFill>
                  <a:srgbClr val="B7C5D6"/>
                </a:solidFill>
                <a:latin typeface="Aptos"/>
                <a:ea typeface="Aptos"/>
                <a:cs typeface="Aptos"/>
              </a:rPr>
              <a:t>context LSTM 64  ·  separate hᵥ per router  ·  shared weights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C07A092-6107-4AC6-A6A9-FB96708E3B9F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3810000" cy="1657350"/>
          </a:xfrm>
          <a:prstGeom prst="roundRect">
            <a:avLst>
              <a:gd name="adj" fmla="val 6897"/>
            </a:avLst>
          </a:prstGeom>
          <a:solidFill>
            <a:srgbClr val="102A4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DFD32-40D0-4947-8A29-81E07F2E915C}"/>
              </a:ext>
            </a:extLst>
          </p:cNvPr>
          <p:cNvSpPr>
            <a:spLocks noGrp="1"/>
          </p:cNvSpPr>
          <p:nvPr/>
        </p:nvSpPr>
        <p:spPr>
          <a:xfrm>
            <a:off x="781050" y="46672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00" b="1" i="0" dirty="0">
                <a:solidFill>
                  <a:srgbClr val="F59E0B"/>
                </a:solidFill>
                <a:latin typeface="Aptos"/>
                <a:ea typeface="Aptos"/>
                <a:cs typeface="Aptos"/>
              </a:rPr>
              <a:t>C  </a:t>
            </a:r>
            <a:r>
              <a:rPr lang="en-US" sz="1800" b="1" i="0" dirty="0">
                <a:solidFill>
                  <a:srgbClr val="F59E0B"/>
                </a:solidFill>
                <a:latin typeface="Aptos"/>
                <a:ea typeface="Aptos"/>
                <a:cs typeface="Aptos"/>
              </a:rPr>
              <a:t>Seven</a:t>
            </a:r>
            <a:r>
              <a:rPr sz="1800" b="1" i="0" dirty="0">
                <a:solidFill>
                  <a:srgbClr val="F59E0B"/>
                </a:solidFill>
                <a:latin typeface="Aptos"/>
                <a:ea typeface="Aptos"/>
                <a:cs typeface="Aptos"/>
              </a:rPr>
              <a:t> candidate features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03CE49-247C-470E-AD8F-AFCC84120D3F}"/>
              </a:ext>
            </a:extLst>
          </p:cNvPr>
          <p:cNvSpPr>
            <a:spLocks noGrp="1"/>
          </p:cNvSpPr>
          <p:nvPr/>
        </p:nvSpPr>
        <p:spPr>
          <a:xfrm>
            <a:off x="781050" y="5038725"/>
            <a:ext cx="1676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  frequency</a:t>
            </a:r>
          </a:p>
          <a:p>
            <a:pPr algn="l">
              <a:lnSpc>
                <a:spcPct val="104000"/>
              </a:lnSpc>
              <a:buNone/>
              <a:defRPr sz="12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  request recency</a:t>
            </a:r>
          </a:p>
          <a:p>
            <a:pPr algn="l">
              <a:lnSpc>
                <a:spcPct val="104000"/>
              </a:lnSpc>
              <a:buNone/>
              <a:defRPr sz="12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3  regularity</a:t>
            </a:r>
          </a:p>
          <a:p>
            <a:pPr algn="l">
              <a:lnSpc>
                <a:spcPct val="104000"/>
              </a:lnSpc>
              <a:buNone/>
              <a:defRPr sz="12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  cache-hit fraction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0C6C86-82FF-4FC3-82AB-4FC4B8C3D899}"/>
              </a:ext>
            </a:extLst>
          </p:cNvPr>
          <p:cNvSpPr>
            <a:spLocks noGrp="1"/>
          </p:cNvSpPr>
          <p:nvPr/>
        </p:nvSpPr>
        <p:spPr>
          <a:xfrm>
            <a:off x="2514600" y="5038725"/>
            <a:ext cx="17526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5  residence recency</a:t>
            </a:r>
          </a:p>
          <a:p>
            <a:pPr algn="l">
              <a:lnSpc>
                <a:spcPct val="104000"/>
              </a:lnSpc>
              <a:buNone/>
              <a:defRPr sz="12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6  freshness remaining</a:t>
            </a:r>
          </a:p>
          <a:p>
            <a:pPr algn="l">
              <a:lnSpc>
                <a:spcPct val="104000"/>
              </a:lnSpc>
              <a:buNone/>
              <a:defRPr sz="12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120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7</a:t>
            </a:r>
            <a:r>
              <a:rPr sz="1200" b="0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 incoming/resident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D26DDA2-7019-48F7-97C3-434EB8BA4A43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1924050" cy="2266950"/>
          </a:xfrm>
          <a:prstGeom prst="roundRect">
            <a:avLst>
              <a:gd name="adj" fmla="val 5941"/>
            </a:avLst>
          </a:prstGeom>
          <a:solidFill>
            <a:srgbClr val="0B203B"/>
          </a:solidFill>
          <a:ln w="19050">
            <a:solidFill>
              <a:srgbClr val="94A3B8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CONCATENATE</a:t>
            </a:r>
          </a:p>
          <a:p>
            <a:endParaRPr sz="1650" b="1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Name vector</a:t>
            </a: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+ local history</a:t>
            </a: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+ metadata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C985D60-F062-4762-BCD2-0A15DC2333C2}"/>
              </a:ext>
            </a:extLst>
          </p:cNvPr>
          <p:cNvSpPr>
            <a:spLocks noGrp="1"/>
          </p:cNvSpPr>
          <p:nvPr/>
        </p:nvSpPr>
        <p:spPr>
          <a:xfrm>
            <a:off x="7696200" y="2914650"/>
            <a:ext cx="2133600" cy="1581150"/>
          </a:xfrm>
          <a:prstGeom prst="roundRect">
            <a:avLst>
              <a:gd name="adj" fmla="val 7229"/>
            </a:avLst>
          </a:prstGeom>
          <a:solidFill>
            <a:srgbClr val="143454"/>
          </a:solidFill>
          <a:ln w="23813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SCORE HEAD</a:t>
            </a:r>
          </a:p>
          <a:p>
            <a:pPr algn="ctr">
              <a:lnSpc>
                <a:spcPct val="100000"/>
              </a:lnSpc>
              <a:buNone/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hidden size 64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E3EC821-DD25-44EC-B62F-1220174616A5}"/>
              </a:ext>
            </a:extLst>
          </p:cNvPr>
          <p:cNvSpPr>
            <a:spLocks noGrp="1"/>
          </p:cNvSpPr>
          <p:nvPr/>
        </p:nvSpPr>
        <p:spPr>
          <a:xfrm>
            <a:off x="10572750" y="3105150"/>
            <a:ext cx="1104900" cy="1200150"/>
          </a:xfrm>
          <a:prstGeom prst="roundRect">
            <a:avLst>
              <a:gd name="adj" fmla="val 10345"/>
            </a:avLst>
          </a:prstGeom>
          <a:solidFill>
            <a:srgbClr val="7C5CFC"/>
          </a:solidFill>
          <a:ln w="19050">
            <a:solidFill>
              <a:srgbClr val="A899FF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sᵢ</a:t>
            </a:r>
          </a:p>
          <a:p>
            <a:pPr algn="ctr">
              <a:lnSpc>
                <a:spcPct val="100000"/>
              </a:lnSpc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[0,1]</a:t>
            </a:r>
          </a:p>
          <a:p>
            <a:endParaRPr sz="1800" b="1">
              <a:solidFill>
                <a:srgbClr val="F8FAFC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0000"/>
              </a:lnSpc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KEEP ↑</a:t>
            </a:r>
          </a:p>
        </p:txBody>
      </p:sp>
      <p:cxnSp>
        <p:nvCxnSpPr>
          <p:cNvPr id="52" name="Connector: Elbow 51"/>
          <p:cNvCxnSpPr>
            <a:stCxn id="8" idx="3"/>
            <a:endCxn id="20" idx="1"/>
          </p:cNvCxnSpPr>
          <p:nvPr/>
        </p:nvCxnSpPr>
        <p:spPr>
          <a:xfrm>
            <a:off x="3924300" y="2095500"/>
            <a:ext cx="933450" cy="1609725"/>
          </a:xfrm>
          <a:prstGeom prst="bentConnector3">
            <a:avLst>
              <a:gd name="adj1" fmla="val 50000"/>
            </a:avLst>
          </a:prstGeom>
          <a:ln w="76200">
            <a:solidFill>
              <a:srgbClr val="7C5CFC"/>
            </a:solidFill>
            <a:prstDash val="solid"/>
            <a:tailEnd type="triangle" w="sm" len="sm"/>
          </a:ln>
        </p:spPr>
      </p:cxnSp>
      <p:cxnSp>
        <p:nvCxnSpPr>
          <p:cNvPr id="53" name="Straight Arrow Connector 52"/>
          <p:cNvCxnSpPr>
            <a:stCxn id="12" idx="3"/>
            <a:endCxn id="20" idx="1"/>
          </p:cNvCxnSpPr>
          <p:nvPr/>
        </p:nvCxnSpPr>
        <p:spPr>
          <a:xfrm>
            <a:off x="3924300" y="3676650"/>
            <a:ext cx="933450" cy="28575"/>
          </a:xfrm>
          <a:prstGeom prst="straightConnector1">
            <a:avLst/>
          </a:prstGeom>
          <a:ln w="76200">
            <a:solidFill>
              <a:srgbClr val="18C2B5"/>
            </a:solidFill>
            <a:prstDash val="solid"/>
            <a:tailEnd type="triangle" w="sm" len="sm"/>
          </a:ln>
        </p:spPr>
      </p:cxnSp>
      <p:cxnSp>
        <p:nvCxnSpPr>
          <p:cNvPr id="54" name="Connector: Elbow 53"/>
          <p:cNvCxnSpPr>
            <a:stCxn id="16" idx="3"/>
            <a:endCxn id="20" idx="1"/>
          </p:cNvCxnSpPr>
          <p:nvPr/>
        </p:nvCxnSpPr>
        <p:spPr>
          <a:xfrm flipV="1">
            <a:off x="4400550" y="3705225"/>
            <a:ext cx="457200" cy="1638300"/>
          </a:xfrm>
          <a:prstGeom prst="bentConnector3">
            <a:avLst>
              <a:gd name="adj1" fmla="val 50000"/>
            </a:avLst>
          </a:prstGeom>
          <a:ln w="7620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55" name="Straight Arrow Connector 54"/>
          <p:cNvCxnSpPr>
            <a:stCxn id="20" idx="3"/>
            <a:endCxn id="21" idx="1"/>
          </p:cNvCxnSpPr>
          <p:nvPr/>
        </p:nvCxnSpPr>
        <p:spPr>
          <a:xfrm>
            <a:off x="6781800" y="3705225"/>
            <a:ext cx="914400" cy="0"/>
          </a:xfrm>
          <a:prstGeom prst="straightConnector1">
            <a:avLst/>
          </a:prstGeom>
          <a:ln w="76200">
            <a:solidFill>
              <a:srgbClr val="F8FAFC"/>
            </a:solidFill>
            <a:prstDash val="solid"/>
            <a:tailEnd type="triangle" w="sm" len="sm"/>
          </a:ln>
        </p:spPr>
      </p:cxnSp>
      <p:cxnSp>
        <p:nvCxnSpPr>
          <p:cNvPr id="56" name="Straight Arrow Connector 55"/>
          <p:cNvCxnSpPr>
            <a:stCxn id="21" idx="3"/>
            <a:endCxn id="22" idx="1"/>
          </p:cNvCxnSpPr>
          <p:nvPr/>
        </p:nvCxnSpPr>
        <p:spPr>
          <a:xfrm>
            <a:off x="9829800" y="3705225"/>
            <a:ext cx="742950" cy="0"/>
          </a:xfrm>
          <a:prstGeom prst="straightConnector1">
            <a:avLst/>
          </a:prstGeom>
          <a:ln w="76200">
            <a:solidFill>
              <a:srgbClr val="A899FF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4137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CB118D1-F6ED-42A3-82FA-1513910D97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5FDFD3-887D-4EAD-8C10-E08F195ACC36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FAB01-5B2F-44B1-AC12-4A59185D28CD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4000"/>
              </a:lnSpc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345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Computing the scores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11E212-D649-4208-856B-A8EED7E92666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8</a:t>
            </a:r>
            <a:endParaRPr sz="1500" b="1" i="0" dirty="0">
              <a:solidFill>
                <a:srgbClr val="A899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8B6B3232-8CA2-4ABF-9AE0-38EFDA3E1232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1763A7-8F3B-4B4B-857A-E7A662B2BEA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526A12C-A05F-4FA2-AB5A-61E1D50E0DFD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7C5CF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33288E-44EC-4C7A-91E0-76ADE5F4CB1A}"/>
              </a:ext>
            </a:extLst>
          </p:cNvPr>
          <p:cNvSpPr>
            <a:spLocks noGrp="1"/>
          </p:cNvSpPr>
          <p:nvPr/>
        </p:nvSpPr>
        <p:spPr>
          <a:xfrm>
            <a:off x="3320781" y="1657350"/>
            <a:ext cx="1352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4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4125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z</a:t>
            </a:r>
            <a:r>
              <a:rPr sz="4125" b="1" baseline="-2500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ᵢ</a:t>
            </a:r>
            <a:r>
              <a:rPr sz="4125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 =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CEA56D-ED2D-43B2-8EDF-E493302F1096}"/>
              </a:ext>
            </a:extLst>
          </p:cNvPr>
          <p:cNvSpPr>
            <a:spLocks noGrp="1"/>
          </p:cNvSpPr>
          <p:nvPr/>
        </p:nvSpPr>
        <p:spPr>
          <a:xfrm>
            <a:off x="4254231" y="1657350"/>
            <a:ext cx="838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435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4350" b="1" i="0" dirty="0">
                <a:solidFill>
                  <a:srgbClr val="18C2B5"/>
                </a:solidFill>
                <a:latin typeface="Aptos"/>
                <a:ea typeface="Aptos"/>
                <a:cs typeface="Aptos"/>
              </a:rPr>
              <a:t>p</a:t>
            </a:r>
            <a:r>
              <a:rPr sz="4350" b="1" i="0" baseline="-25000" dirty="0">
                <a:solidFill>
                  <a:srgbClr val="18C2B5"/>
                </a:solidFill>
                <a:latin typeface="Aptos"/>
                <a:ea typeface="Aptos"/>
                <a:cs typeface="Aptos"/>
              </a:rPr>
              <a:t>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10489C-B663-4FC7-B359-13C218F2916B}"/>
              </a:ext>
            </a:extLst>
          </p:cNvPr>
          <p:cNvSpPr>
            <a:spLocks noGrp="1"/>
          </p:cNvSpPr>
          <p:nvPr/>
        </p:nvSpPr>
        <p:spPr>
          <a:xfrm>
            <a:off x="4800601" y="1724025"/>
            <a:ext cx="4895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 rtl="0">
              <a:lnSpc>
                <a:spcPct val="100000"/>
              </a:lnSpc>
              <a:buNone/>
              <a:defRPr sz="3075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3075" b="1" i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+</a:t>
            </a:r>
            <a:r>
              <a:rPr sz="3075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  0.05 tanh(z</a:t>
            </a:r>
            <a:r>
              <a:rPr lang="el-GR" sz="3075" b="1" i="0" baseline="-2500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θ</a:t>
            </a:r>
            <a:r>
              <a:rPr sz="3075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(</a:t>
            </a:r>
            <a:r>
              <a:rPr sz="3075" b="1" i="0" dirty="0" err="1">
                <a:solidFill>
                  <a:srgbClr val="A899FF"/>
                </a:solidFill>
                <a:latin typeface="Aptos"/>
                <a:ea typeface="Aptos"/>
                <a:cs typeface="Aptos"/>
              </a:rPr>
              <a:t>i</a:t>
            </a:r>
            <a:r>
              <a:rPr sz="3075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, h</a:t>
            </a:r>
            <a:r>
              <a:rPr sz="3075" b="1" i="0" baseline="-2500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ᵥ</a:t>
            </a:r>
            <a:r>
              <a:rPr lang="en-US" sz="3075" b="1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,</a:t>
            </a:r>
            <a:r>
              <a:rPr sz="3075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 x</a:t>
            </a:r>
            <a:r>
              <a:rPr sz="3075" b="1" i="0" baseline="-2500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ᵢ</a:t>
            </a:r>
            <a:r>
              <a:rPr sz="3075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))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40EAFE-2D24-4912-8E0D-294BD60817A7}"/>
              </a:ext>
            </a:extLst>
          </p:cNvPr>
          <p:cNvSpPr>
            <a:spLocks noGrp="1"/>
          </p:cNvSpPr>
          <p:nvPr/>
        </p:nvSpPr>
        <p:spPr>
          <a:xfrm>
            <a:off x="3409950" y="2571750"/>
            <a:ext cx="5372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2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225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</a:t>
            </a:r>
            <a:r>
              <a:rPr sz="3225" b="1" i="0" baseline="-2500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ᵢ</a:t>
            </a:r>
            <a:r>
              <a:rPr sz="3225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= sigmoid(z</a:t>
            </a:r>
            <a:r>
              <a:rPr sz="3225" b="1" i="0" baseline="-2500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ᵢ</a:t>
            </a:r>
            <a:r>
              <a:rPr sz="3225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)  ∈  [0,1]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4F73BA8-73EE-4201-B755-F17D6509A231}"/>
              </a:ext>
            </a:extLst>
          </p:cNvPr>
          <p:cNvSpPr>
            <a:spLocks noGrp="1"/>
          </p:cNvSpPr>
          <p:nvPr/>
        </p:nvSpPr>
        <p:spPr>
          <a:xfrm>
            <a:off x="2305049" y="3587886"/>
            <a:ext cx="3371850" cy="1752600"/>
          </a:xfrm>
          <a:prstGeom prst="roundRect">
            <a:avLst>
              <a:gd name="adj" fmla="val 6522"/>
            </a:avLst>
          </a:prstGeom>
          <a:solidFill>
            <a:srgbClr val="102A4C"/>
          </a:solidFill>
          <a:ln w="19050">
            <a:solidFill>
              <a:srgbClr val="18C2B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4040DC-8282-4979-BA31-CB85B9D5DAD0}"/>
              </a:ext>
            </a:extLst>
          </p:cNvPr>
          <p:cNvSpPr>
            <a:spLocks noGrp="1"/>
          </p:cNvSpPr>
          <p:nvPr/>
        </p:nvSpPr>
        <p:spPr>
          <a:xfrm>
            <a:off x="2495549" y="3768861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POPULARITY PRIOR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A0EADE-1787-4F4F-9CBA-869D5B711EBA}"/>
              </a:ext>
            </a:extLst>
          </p:cNvPr>
          <p:cNvSpPr>
            <a:spLocks noGrp="1"/>
          </p:cNvSpPr>
          <p:nvPr/>
        </p:nvSpPr>
        <p:spPr>
          <a:xfrm>
            <a:off x="2495549" y="4140336"/>
            <a:ext cx="2990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weight 1.0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4257A6-5052-467C-99CB-AD7C17C26B32}"/>
              </a:ext>
            </a:extLst>
          </p:cNvPr>
          <p:cNvSpPr>
            <a:spLocks noGrp="1"/>
          </p:cNvSpPr>
          <p:nvPr/>
        </p:nvSpPr>
        <p:spPr>
          <a:xfrm>
            <a:off x="2495549" y="4702311"/>
            <a:ext cx="2990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B7C5D6"/>
                </a:solidFill>
                <a:latin typeface="Aptos"/>
                <a:ea typeface="Aptos"/>
                <a:cs typeface="Aptos"/>
              </a:rPr>
              <a:t>candidate-normalized decayed local frequency</a:t>
            </a:r>
          </a:p>
          <a:p>
            <a:pPr algn="ctr">
              <a:lnSpc>
                <a:spcPct val="100000"/>
              </a:lnSpc>
              <a:buNone/>
              <a:defRPr sz="1350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B7C5D6"/>
                </a:solidFill>
                <a:latin typeface="Aptos"/>
                <a:ea typeface="Aptos"/>
                <a:cs typeface="Aptos"/>
              </a:rPr>
              <a:t>τ = 32 router-local requests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F1BDF48-C8E7-479D-8784-CB7A288F1ACB}"/>
              </a:ext>
            </a:extLst>
          </p:cNvPr>
          <p:cNvSpPr>
            <a:spLocks noGrp="1"/>
          </p:cNvSpPr>
          <p:nvPr/>
        </p:nvSpPr>
        <p:spPr>
          <a:xfrm>
            <a:off x="6515102" y="3587886"/>
            <a:ext cx="3371850" cy="1752600"/>
          </a:xfrm>
          <a:prstGeom prst="roundRect">
            <a:avLst>
              <a:gd name="adj" fmla="val 6522"/>
            </a:avLst>
          </a:prstGeom>
          <a:solidFill>
            <a:srgbClr val="102A4C"/>
          </a:solidFill>
          <a:ln w="19050">
            <a:solidFill>
              <a:srgbClr val="7C5CF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FB3F1F-1877-4421-889C-B5655DAC69F2}"/>
              </a:ext>
            </a:extLst>
          </p:cNvPr>
          <p:cNvSpPr>
            <a:spLocks noGrp="1"/>
          </p:cNvSpPr>
          <p:nvPr/>
        </p:nvSpPr>
        <p:spPr>
          <a:xfrm>
            <a:off x="6705602" y="3768861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NEURAL RESIDUAL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427FA8-8A47-4BBC-A023-F8A4F65608E6}"/>
              </a:ext>
            </a:extLst>
          </p:cNvPr>
          <p:cNvSpPr>
            <a:spLocks noGrp="1"/>
          </p:cNvSpPr>
          <p:nvPr/>
        </p:nvSpPr>
        <p:spPr>
          <a:xfrm>
            <a:off x="6705602" y="4140336"/>
            <a:ext cx="2990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bounded ±0.05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872064-ADDA-4370-8978-641F84A292BE}"/>
              </a:ext>
            </a:extLst>
          </p:cNvPr>
          <p:cNvSpPr>
            <a:spLocks noGrp="1"/>
          </p:cNvSpPr>
          <p:nvPr/>
        </p:nvSpPr>
        <p:spPr>
          <a:xfrm>
            <a:off x="6705602" y="4702311"/>
            <a:ext cx="2990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Name + router history + metadata</a:t>
            </a:r>
          </a:p>
          <a:p>
            <a:pPr algn="ctr">
              <a:lnSpc>
                <a:spcPct val="100000"/>
              </a:lnSpc>
              <a:buNone/>
              <a:defRPr sz="1350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conservative logit correction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B06CEAC-58F8-4C92-A413-94CC164CDD23}"/>
              </a:ext>
            </a:extLst>
          </p:cNvPr>
          <p:cNvSpPr>
            <a:spLocks noGrp="1"/>
          </p:cNvSpPr>
          <p:nvPr/>
        </p:nvSpPr>
        <p:spPr>
          <a:xfrm>
            <a:off x="1600200" y="5657850"/>
            <a:ext cx="8972550" cy="552450"/>
          </a:xfrm>
          <a:prstGeom prst="roundRect">
            <a:avLst>
              <a:gd name="adj" fmla="val 13793"/>
            </a:avLst>
          </a:prstGeom>
          <a:solidFill>
            <a:srgbClr val="0B203B"/>
          </a:solidFill>
          <a:ln w="14288">
            <a:solidFill>
              <a:srgbClr val="7C5CF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71131D-12FE-43C6-8113-5C91286CFF44}"/>
              </a:ext>
            </a:extLst>
          </p:cNvPr>
          <p:cNvSpPr>
            <a:spLocks noGrp="1"/>
          </p:cNvSpPr>
          <p:nvPr/>
        </p:nvSpPr>
        <p:spPr>
          <a:xfrm>
            <a:off x="1809750" y="5781675"/>
            <a:ext cx="855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Evict  </a:t>
            </a:r>
            <a:r>
              <a:rPr sz="1875" b="1" i="0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arg</a:t>
            </a:r>
            <a:r>
              <a:rPr sz="1875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min sᵢ  within the shortlist  ·  higher score means KEEP</a:t>
            </a:r>
          </a:p>
        </p:txBody>
      </p:sp>
    </p:spTree>
    <p:extLst>
      <p:ext uri="{BB962C8B-B14F-4D97-AF65-F5344CB8AC3E}">
        <p14:creationId xmlns:p14="http://schemas.microsoft.com/office/powerpoint/2010/main" val="62154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29515AA-E807-4B93-BED8-65201C13A2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65815B-DD6E-489E-9446-DB01C6165CF3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E06D18-D9C8-44E5-A34A-AF53A4C71F57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4000"/>
              </a:lnSpc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345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Computing the scores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8D376C-B10D-49BC-9BE8-41438E29FD09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9</a:t>
            </a:r>
            <a:endParaRPr sz="1500" b="1" i="0" dirty="0">
              <a:solidFill>
                <a:srgbClr val="A899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307F7BA-1CB1-4944-B4C5-51F9D53C4343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FC890A-1CDE-41F8-B7EA-0A2C17D44DB2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52671A4-6827-4863-A996-D068DFC9F5C5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7C5CF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9009B9-43FA-4465-ABEE-72F88CDDD348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3162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Most recently 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85824A-9DFA-4056-978F-2AC5DB90A739}"/>
              </a:ext>
            </a:extLst>
          </p:cNvPr>
          <p:cNvSpPr>
            <a:spLocks noGrp="1"/>
          </p:cNvSpPr>
          <p:nvPr/>
        </p:nvSpPr>
        <p:spPr>
          <a:xfrm>
            <a:off x="1104900" y="1724025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16-packet cache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026D1A-266A-436E-AE94-CAB279C6A84A}"/>
              </a:ext>
            </a:extLst>
          </p:cNvPr>
          <p:cNvSpPr>
            <a:spLocks noGrp="1"/>
          </p:cNvSpPr>
          <p:nvPr/>
        </p:nvSpPr>
        <p:spPr>
          <a:xfrm>
            <a:off x="704850" y="2190750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102A4C"/>
          </a:solidFill>
          <a:ln w="9525">
            <a:solidFill>
              <a:srgbClr val="0F8F87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C5D6"/>
                </a:solidFill>
                <a:latin typeface="Aptos"/>
                <a:ea typeface="Aptos"/>
                <a:cs typeface="Aptos"/>
              </a:rPr>
              <a:t>R1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198493-73B7-4D43-99F1-847F09EDA339}"/>
              </a:ext>
            </a:extLst>
          </p:cNvPr>
          <p:cNvSpPr>
            <a:spLocks noGrp="1"/>
          </p:cNvSpPr>
          <p:nvPr/>
        </p:nvSpPr>
        <p:spPr>
          <a:xfrm>
            <a:off x="1733550" y="2190750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102A4C"/>
          </a:solidFill>
          <a:ln w="9525">
            <a:solidFill>
              <a:srgbClr val="0F8F87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C5D6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6CC931-D264-4248-BE87-7AD6A229398D}"/>
              </a:ext>
            </a:extLst>
          </p:cNvPr>
          <p:cNvSpPr>
            <a:spLocks noGrp="1"/>
          </p:cNvSpPr>
          <p:nvPr/>
        </p:nvSpPr>
        <p:spPr>
          <a:xfrm>
            <a:off x="2762250" y="2190750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102A4C"/>
          </a:solidFill>
          <a:ln w="9525">
            <a:solidFill>
              <a:srgbClr val="0F8F87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C5D6"/>
                </a:solidFill>
                <a:latin typeface="Aptos"/>
                <a:ea typeface="Aptos"/>
                <a:cs typeface="Aptos"/>
              </a:rPr>
              <a:t>R3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2AB5E3-A6A4-4BFF-8F92-DD6C7F9253C9}"/>
              </a:ext>
            </a:extLst>
          </p:cNvPr>
          <p:cNvSpPr>
            <a:spLocks noGrp="1"/>
          </p:cNvSpPr>
          <p:nvPr/>
        </p:nvSpPr>
        <p:spPr>
          <a:xfrm>
            <a:off x="3790950" y="2190750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102A4C"/>
          </a:solidFill>
          <a:ln w="9525">
            <a:solidFill>
              <a:srgbClr val="0F8F87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C5D6"/>
                </a:solidFill>
                <a:latin typeface="Aptos"/>
                <a:ea typeface="Aptos"/>
                <a:cs typeface="Aptos"/>
              </a:rPr>
              <a:t>R4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B30457-E395-4756-98BC-45449BD4FE2E}"/>
              </a:ext>
            </a:extLst>
          </p:cNvPr>
          <p:cNvSpPr>
            <a:spLocks noGrp="1"/>
          </p:cNvSpPr>
          <p:nvPr/>
        </p:nvSpPr>
        <p:spPr>
          <a:xfrm>
            <a:off x="704850" y="2905125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102A4C"/>
          </a:solidFill>
          <a:ln w="9525">
            <a:solidFill>
              <a:srgbClr val="0F8F87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C5D6"/>
                </a:solidFill>
                <a:latin typeface="Aptos"/>
                <a:ea typeface="Aptos"/>
                <a:cs typeface="Aptos"/>
              </a:rPr>
              <a:t>R5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12BAA4-D014-427B-831D-1360BDF0ACC1}"/>
              </a:ext>
            </a:extLst>
          </p:cNvPr>
          <p:cNvSpPr>
            <a:spLocks noGrp="1"/>
          </p:cNvSpPr>
          <p:nvPr/>
        </p:nvSpPr>
        <p:spPr>
          <a:xfrm>
            <a:off x="1733550" y="2905125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102A4C"/>
          </a:solidFill>
          <a:ln w="9525">
            <a:solidFill>
              <a:srgbClr val="0F8F87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C5D6"/>
                </a:solidFill>
                <a:latin typeface="Aptos"/>
                <a:ea typeface="Aptos"/>
                <a:cs typeface="Aptos"/>
              </a:rPr>
              <a:t>R6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DD971F-B0B0-441D-BFD6-9AFA3C15FD1D}"/>
              </a:ext>
            </a:extLst>
          </p:cNvPr>
          <p:cNvSpPr>
            <a:spLocks noGrp="1"/>
          </p:cNvSpPr>
          <p:nvPr/>
        </p:nvSpPr>
        <p:spPr>
          <a:xfrm>
            <a:off x="2762250" y="2905125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102A4C"/>
          </a:solidFill>
          <a:ln w="9525">
            <a:solidFill>
              <a:srgbClr val="0F8F87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C5D6"/>
                </a:solidFill>
                <a:latin typeface="Aptos"/>
                <a:ea typeface="Aptos"/>
                <a:cs typeface="Aptos"/>
              </a:rPr>
              <a:t>R7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E6D4F0-ECC1-45FE-8B75-9A1E1E9D28DD}"/>
              </a:ext>
            </a:extLst>
          </p:cNvPr>
          <p:cNvSpPr>
            <a:spLocks noGrp="1"/>
          </p:cNvSpPr>
          <p:nvPr/>
        </p:nvSpPr>
        <p:spPr>
          <a:xfrm>
            <a:off x="3790950" y="2905125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102A4C"/>
          </a:solidFill>
          <a:ln w="9525">
            <a:solidFill>
              <a:srgbClr val="0F8F87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C5D6"/>
                </a:solidFill>
                <a:latin typeface="Aptos"/>
                <a:ea typeface="Aptos"/>
                <a:cs typeface="Aptos"/>
              </a:rPr>
              <a:t>R8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088B901-1E0B-45A8-A36A-F9FA4DA2150F}"/>
              </a:ext>
            </a:extLst>
          </p:cNvPr>
          <p:cNvSpPr>
            <a:spLocks noGrp="1"/>
          </p:cNvSpPr>
          <p:nvPr/>
        </p:nvSpPr>
        <p:spPr>
          <a:xfrm>
            <a:off x="704850" y="3619500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221E49"/>
          </a:solidFill>
          <a:ln w="19050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99FF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AE8C0E-1066-4BCF-879D-31B9791E370E}"/>
              </a:ext>
            </a:extLst>
          </p:cNvPr>
          <p:cNvSpPr>
            <a:spLocks noGrp="1"/>
          </p:cNvSpPr>
          <p:nvPr/>
        </p:nvSpPr>
        <p:spPr>
          <a:xfrm>
            <a:off x="1733550" y="3619500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221E49"/>
          </a:solidFill>
          <a:ln w="19050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99FF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3B1F110-F4D5-4555-9929-740CD0A6CE2B}"/>
              </a:ext>
            </a:extLst>
          </p:cNvPr>
          <p:cNvSpPr>
            <a:spLocks noGrp="1"/>
          </p:cNvSpPr>
          <p:nvPr/>
        </p:nvSpPr>
        <p:spPr>
          <a:xfrm>
            <a:off x="2762250" y="3619500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221E49"/>
          </a:solidFill>
          <a:ln w="19050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99FF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348A1D8-54E3-435D-B08C-71EECBA00BB9}"/>
              </a:ext>
            </a:extLst>
          </p:cNvPr>
          <p:cNvSpPr>
            <a:spLocks noGrp="1"/>
          </p:cNvSpPr>
          <p:nvPr/>
        </p:nvSpPr>
        <p:spPr>
          <a:xfrm>
            <a:off x="3790950" y="3619500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221E49"/>
          </a:solidFill>
          <a:ln w="19050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99FF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EDA512C-2CC7-46E1-A4CC-43A291EE7790}"/>
              </a:ext>
            </a:extLst>
          </p:cNvPr>
          <p:cNvSpPr>
            <a:spLocks noGrp="1"/>
          </p:cNvSpPr>
          <p:nvPr/>
        </p:nvSpPr>
        <p:spPr>
          <a:xfrm>
            <a:off x="704850" y="4333875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221E49"/>
          </a:solidFill>
          <a:ln w="19050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99FF"/>
                </a:solidFill>
                <a:latin typeface="Aptos"/>
                <a:ea typeface="Aptos"/>
                <a:cs typeface="Aptos"/>
              </a:rPr>
              <a:t>S5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54F19C5-70A7-43D6-9F25-B134EC6547E5}"/>
              </a:ext>
            </a:extLst>
          </p:cNvPr>
          <p:cNvSpPr>
            <a:spLocks noGrp="1"/>
          </p:cNvSpPr>
          <p:nvPr/>
        </p:nvSpPr>
        <p:spPr>
          <a:xfrm>
            <a:off x="1733550" y="4333875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221E49"/>
          </a:solidFill>
          <a:ln w="19050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99FF"/>
                </a:solidFill>
                <a:latin typeface="Aptos"/>
                <a:ea typeface="Aptos"/>
                <a:cs typeface="Aptos"/>
              </a:rPr>
              <a:t>S6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46E05EB-30A1-45D0-9F70-7B2E3504CD27}"/>
              </a:ext>
            </a:extLst>
          </p:cNvPr>
          <p:cNvSpPr>
            <a:spLocks noGrp="1"/>
          </p:cNvSpPr>
          <p:nvPr/>
        </p:nvSpPr>
        <p:spPr>
          <a:xfrm>
            <a:off x="2762250" y="4333875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221E49"/>
          </a:solidFill>
          <a:ln w="19050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99FF"/>
                </a:solidFill>
                <a:latin typeface="Aptos"/>
                <a:ea typeface="Aptos"/>
                <a:cs typeface="Aptos"/>
              </a:rPr>
              <a:t>S7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74A124B-0D26-4021-8621-81CEB7FA3A95}"/>
              </a:ext>
            </a:extLst>
          </p:cNvPr>
          <p:cNvSpPr>
            <a:spLocks noGrp="1"/>
          </p:cNvSpPr>
          <p:nvPr/>
        </p:nvSpPr>
        <p:spPr>
          <a:xfrm>
            <a:off x="3790950" y="4333875"/>
            <a:ext cx="933450" cy="619125"/>
          </a:xfrm>
          <a:prstGeom prst="roundRect">
            <a:avLst>
              <a:gd name="adj" fmla="val 12308"/>
            </a:avLst>
          </a:prstGeom>
          <a:solidFill>
            <a:srgbClr val="221E49"/>
          </a:solidFill>
          <a:ln w="19050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99FF"/>
                </a:solidFill>
                <a:latin typeface="Aptos"/>
                <a:ea typeface="Aptos"/>
                <a:cs typeface="Aptos"/>
              </a:rPr>
              <a:t>S8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56EE58-812C-4B00-900B-FFE5B76F3580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4229100" cy="1543050"/>
          </a:xfrm>
          <a:prstGeom prst="roundRect">
            <a:avLst>
              <a:gd name="adj" fmla="val 6173"/>
            </a:avLst>
          </a:prstGeom>
          <a:noFill/>
          <a:ln w="28575">
            <a:solidFill>
              <a:srgbClr val="7C5CF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C899B9-D944-460E-8816-EF8233F6E6C0}"/>
              </a:ext>
            </a:extLst>
          </p:cNvPr>
          <p:cNvSpPr>
            <a:spLocks noGrp="1"/>
          </p:cNvSpPr>
          <p:nvPr/>
        </p:nvSpPr>
        <p:spPr>
          <a:xfrm>
            <a:off x="857250" y="51244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8 least-recently-used residents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8C13F9B1-F7CB-4E51-BB69-1A60D9720662}"/>
              </a:ext>
            </a:extLst>
          </p:cNvPr>
          <p:cNvSpPr>
            <a:spLocks noGrp="1"/>
          </p:cNvSpPr>
          <p:nvPr/>
        </p:nvSpPr>
        <p:spPr>
          <a:xfrm>
            <a:off x="5029200" y="3476625"/>
            <a:ext cx="876300" cy="323850"/>
          </a:xfrm>
          <a:prstGeom prst="rightArrow">
            <a:avLst/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CDB4B5C-1267-403F-99EC-45EDBD4DB435}"/>
              </a:ext>
            </a:extLst>
          </p:cNvPr>
          <p:cNvSpPr>
            <a:spLocks noGrp="1"/>
          </p:cNvSpPr>
          <p:nvPr/>
        </p:nvSpPr>
        <p:spPr>
          <a:xfrm>
            <a:off x="6076950" y="2019300"/>
            <a:ext cx="2152650" cy="1257300"/>
          </a:xfrm>
          <a:prstGeom prst="roundRect">
            <a:avLst>
              <a:gd name="adj" fmla="val 9091"/>
            </a:avLst>
          </a:prstGeom>
          <a:solidFill>
            <a:srgbClr val="102A4C"/>
          </a:solidFill>
          <a:ln w="19050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LRU FILTER</a:t>
            </a:r>
          </a:p>
          <a:p>
            <a:pPr algn="ctr">
              <a:lnSpc>
                <a:spcPct val="100000"/>
              </a:lnSpc>
              <a:buNone/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8 of 16 residents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72FD02D-F8FF-4A43-9A9F-ECF25148898F}"/>
              </a:ext>
            </a:extLst>
          </p:cNvPr>
          <p:cNvSpPr>
            <a:spLocks noGrp="1"/>
          </p:cNvSpPr>
          <p:nvPr/>
        </p:nvSpPr>
        <p:spPr>
          <a:xfrm>
            <a:off x="6076950" y="3676650"/>
            <a:ext cx="2152650" cy="1257300"/>
          </a:xfrm>
          <a:prstGeom prst="roundRect">
            <a:avLst>
              <a:gd name="adj" fmla="val 9091"/>
            </a:avLst>
          </a:prstGeom>
          <a:solidFill>
            <a:srgbClr val="102A4C"/>
          </a:solidFill>
          <a:ln w="19050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SCORE</a:t>
            </a:r>
          </a:p>
          <a:p>
            <a:pPr algn="ctr">
              <a:lnSpc>
                <a:spcPct val="100000"/>
              </a:lnSpc>
              <a:buNone/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only the shortlist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E37430-8659-4D3D-A28F-841AB35CA2A5}"/>
              </a:ext>
            </a:extLst>
          </p:cNvPr>
          <p:cNvSpPr>
            <a:spLocks noGrp="1"/>
          </p:cNvSpPr>
          <p:nvPr/>
        </p:nvSpPr>
        <p:spPr>
          <a:xfrm>
            <a:off x="9163050" y="2838450"/>
            <a:ext cx="2209800" cy="1428750"/>
          </a:xfrm>
          <a:prstGeom prst="roundRect">
            <a:avLst>
              <a:gd name="adj" fmla="val 8000"/>
            </a:avLst>
          </a:prstGeom>
          <a:solidFill>
            <a:srgbClr val="3A2033"/>
          </a:solidFill>
          <a:ln w="19050">
            <a:solidFill>
              <a:srgbClr val="EF6A5B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EVICT</a:t>
            </a:r>
            <a:r>
              <a:rPr lang="en-US" sz="172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algn="ctr">
              <a:lnSpc>
                <a:spcPct val="100000"/>
              </a:lnSpc>
              <a:buNone/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172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item with</a:t>
            </a:r>
            <a:endParaRPr sz="1725" b="1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0000"/>
              </a:lnSpc>
              <a:buNone/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minimum score</a:t>
            </a:r>
          </a:p>
        </p:txBody>
      </p:sp>
      <p:cxnSp>
        <p:nvCxnSpPr>
          <p:cNvPr id="72" name="Straight Arrow Connector 71"/>
          <p:cNvCxnSpPr>
            <a:stCxn id="30" idx="2"/>
            <a:endCxn id="31" idx="0"/>
          </p:cNvCxnSpPr>
          <p:nvPr/>
        </p:nvCxnSpPr>
        <p:spPr>
          <a:xfrm>
            <a:off x="7153275" y="3276600"/>
            <a:ext cx="0" cy="400050"/>
          </a:xfrm>
          <a:prstGeom prst="straightConnector1">
            <a:avLst/>
          </a:prstGeom>
          <a:ln w="76200">
            <a:solidFill>
              <a:srgbClr val="7C5CFC"/>
            </a:solidFill>
            <a:prstDash val="solid"/>
            <a:tailEnd type="triangle" w="sm" len="sm"/>
          </a:ln>
        </p:spPr>
      </p:cxnSp>
      <p:cxnSp>
        <p:nvCxnSpPr>
          <p:cNvPr id="73" name="Connector: Elbow 72"/>
          <p:cNvCxnSpPr>
            <a:stCxn id="31" idx="3"/>
            <a:endCxn id="32" idx="1"/>
          </p:cNvCxnSpPr>
          <p:nvPr/>
        </p:nvCxnSpPr>
        <p:spPr>
          <a:xfrm flipV="1">
            <a:off x="8229600" y="3552825"/>
            <a:ext cx="933450" cy="752475"/>
          </a:xfrm>
          <a:prstGeom prst="bentConnector3">
            <a:avLst>
              <a:gd name="adj1" fmla="val 50000"/>
            </a:avLst>
          </a:prstGeom>
          <a:ln w="76200">
            <a:solidFill>
              <a:srgbClr val="EF6A5B"/>
            </a:solidFill>
            <a:prstDash val="solid"/>
            <a:tailEnd type="triangle" w="sm" len="sm"/>
          </a:ln>
        </p:spPr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8872EDB-D599-40F3-A0E7-2E6FA73A0C6D}"/>
              </a:ext>
            </a:extLst>
          </p:cNvPr>
          <p:cNvSpPr>
            <a:spLocks noGrp="1"/>
          </p:cNvSpPr>
          <p:nvPr/>
        </p:nvSpPr>
        <p:spPr>
          <a:xfrm>
            <a:off x="8839200" y="4591050"/>
            <a:ext cx="2857500" cy="1066800"/>
          </a:xfrm>
          <a:prstGeom prst="roundRect">
            <a:avLst>
              <a:gd name="adj" fmla="val 10714"/>
            </a:avLst>
          </a:prstGeom>
          <a:solidFill>
            <a:srgbClr val="102A4C"/>
          </a:solidFill>
          <a:ln w="9525">
            <a:solidFill>
              <a:srgbClr val="29445F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49E720E-0811-4DC1-8251-011317FD0052}"/>
              </a:ext>
            </a:extLst>
          </p:cNvPr>
          <p:cNvSpPr>
            <a:spLocks noGrp="1"/>
          </p:cNvSpPr>
          <p:nvPr/>
        </p:nvSpPr>
        <p:spPr>
          <a:xfrm>
            <a:off x="9010650" y="4705350"/>
            <a:ext cx="2514600" cy="55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C44B07-C6C3-4FE2-B6B6-44692ECC93F0}"/>
              </a:ext>
            </a:extLst>
          </p:cNvPr>
          <p:cNvSpPr>
            <a:spLocks noGrp="1"/>
          </p:cNvSpPr>
          <p:nvPr/>
        </p:nvSpPr>
        <p:spPr>
          <a:xfrm>
            <a:off x="8972550" y="5209794"/>
            <a:ext cx="2590800" cy="2987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of residents neurally scored per replacement</a:t>
            </a:r>
          </a:p>
        </p:txBody>
      </p:sp>
    </p:spTree>
    <p:extLst>
      <p:ext uri="{BB962C8B-B14F-4D97-AF65-F5344CB8AC3E}">
        <p14:creationId xmlns:p14="http://schemas.microsoft.com/office/powerpoint/2010/main" val="1389052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DA598487-C8BC-4A43-8F05-2E68356283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5B600C-9115-4AE4-AB31-056BB37EFD5D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4243F8-5031-43DE-B981-8880A8378641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Training pipeline</a:t>
            </a:r>
            <a:endParaRPr sz="3450" b="1" i="0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2DE807-BD7E-4FF4-B914-470FC6A6BBCB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lang="en-US"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10</a:t>
            </a:r>
            <a:endParaRPr sz="1500" b="1" i="0" dirty="0">
              <a:solidFill>
                <a:srgbClr val="A899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63B9518-D074-4E01-A022-8E17E7157959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A3F961-E447-4C10-AB5A-623137FA8C5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6656750-38D0-48AF-9997-785850C47125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7C5CF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FBA569-8146-417A-9592-0B6632B4C1C7}"/>
              </a:ext>
            </a:extLst>
          </p:cNvPr>
          <p:cNvSpPr>
            <a:spLocks noGrp="1"/>
          </p:cNvSpPr>
          <p:nvPr/>
        </p:nvSpPr>
        <p:spPr>
          <a:xfrm>
            <a:off x="704850" y="1733548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PRE</a:t>
            </a:r>
            <a:r>
              <a:rPr sz="12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TRAIN PARTITION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3A248-6679-4176-A105-5EBA2B06E604}"/>
              </a:ext>
            </a:extLst>
          </p:cNvPr>
          <p:cNvSpPr>
            <a:spLocks noGrp="1"/>
          </p:cNvSpPr>
          <p:nvPr/>
        </p:nvSpPr>
        <p:spPr>
          <a:xfrm>
            <a:off x="4514850" y="1733548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dirty="0">
                <a:solidFill>
                  <a:srgbClr val="18C2B5"/>
                </a:solidFill>
                <a:latin typeface="Aptos"/>
                <a:ea typeface="Aptos"/>
                <a:cs typeface="Aptos"/>
              </a:rPr>
              <a:t>ONLINE </a:t>
            </a:r>
            <a:r>
              <a:rPr sz="1200" b="1" i="0" dirty="0">
                <a:solidFill>
                  <a:srgbClr val="18C2B5"/>
                </a:solidFill>
                <a:latin typeface="Aptos"/>
                <a:ea typeface="Aptos"/>
                <a:cs typeface="Aptos"/>
              </a:rPr>
              <a:t>TRAIN PARTITION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842547-2D6E-42F3-88F3-3D9B42E7C462}"/>
              </a:ext>
            </a:extLst>
          </p:cNvPr>
          <p:cNvSpPr>
            <a:spLocks noGrp="1"/>
          </p:cNvSpPr>
          <p:nvPr/>
        </p:nvSpPr>
        <p:spPr>
          <a:xfrm>
            <a:off x="8324850" y="1733548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2C55E"/>
                </a:solidFill>
                <a:latin typeface="Aptos"/>
                <a:ea typeface="Aptos"/>
                <a:cs typeface="Aptos"/>
              </a:rPr>
              <a:t>VALIDATION → TEST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BA9F7F-BCE2-4166-8BA3-AECAAB5F5BD6}"/>
              </a:ext>
            </a:extLst>
          </p:cNvPr>
          <p:cNvSpPr>
            <a:spLocks noGrp="1"/>
          </p:cNvSpPr>
          <p:nvPr/>
        </p:nvSpPr>
        <p:spPr>
          <a:xfrm>
            <a:off x="647700" y="2305050"/>
            <a:ext cx="3371850" cy="3248025"/>
          </a:xfrm>
          <a:prstGeom prst="roundRect">
            <a:avLst>
              <a:gd name="adj" fmla="val 3390"/>
            </a:avLst>
          </a:prstGeom>
          <a:solidFill>
            <a:srgbClr val="102A4C"/>
          </a:solidFill>
          <a:ln w="19050">
            <a:solidFill>
              <a:srgbClr val="7C5CFC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70D9FF-FDA2-4475-AA0D-DEAF055FF7A8}"/>
              </a:ext>
            </a:extLst>
          </p:cNvPr>
          <p:cNvSpPr>
            <a:spLocks noGrp="1"/>
          </p:cNvSpPr>
          <p:nvPr/>
        </p:nvSpPr>
        <p:spPr>
          <a:xfrm>
            <a:off x="4457700" y="2305050"/>
            <a:ext cx="3371850" cy="3248025"/>
          </a:xfrm>
          <a:prstGeom prst="roundRect">
            <a:avLst>
              <a:gd name="adj" fmla="val 3390"/>
            </a:avLst>
          </a:prstGeom>
          <a:solidFill>
            <a:srgbClr val="102A4C"/>
          </a:solidFill>
          <a:ln w="19050">
            <a:solidFill>
              <a:srgbClr val="18C2B5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DF89641-ADED-4F64-8F7D-C08E5F6AFBFF}"/>
              </a:ext>
            </a:extLst>
          </p:cNvPr>
          <p:cNvSpPr>
            <a:spLocks noGrp="1"/>
          </p:cNvSpPr>
          <p:nvPr/>
        </p:nvSpPr>
        <p:spPr>
          <a:xfrm>
            <a:off x="8267700" y="2305050"/>
            <a:ext cx="3371850" cy="3248022"/>
          </a:xfrm>
          <a:prstGeom prst="roundRect">
            <a:avLst>
              <a:gd name="adj" fmla="val 3390"/>
            </a:avLst>
          </a:prstGeom>
          <a:solidFill>
            <a:srgbClr val="102A4C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E273FAD-2878-4B68-A771-E5E39280FE70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457200" cy="457200"/>
          </a:xfrm>
          <a:prstGeom prst="ellipse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D6CF6B-4595-4223-907D-C4775CBB2F03}"/>
              </a:ext>
            </a:extLst>
          </p:cNvPr>
          <p:cNvSpPr>
            <a:spLocks noGrp="1"/>
          </p:cNvSpPr>
          <p:nvPr/>
        </p:nvSpPr>
        <p:spPr>
          <a:xfrm>
            <a:off x="4648200" y="2476500"/>
            <a:ext cx="457200" cy="457200"/>
          </a:xfrm>
          <a:prstGeom prst="ellipse">
            <a:avLst/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90F86CC-D8F1-430C-B5FB-0C82119975B1}"/>
              </a:ext>
            </a:extLst>
          </p:cNvPr>
          <p:cNvSpPr>
            <a:spLocks noGrp="1"/>
          </p:cNvSpPr>
          <p:nvPr/>
        </p:nvSpPr>
        <p:spPr>
          <a:xfrm>
            <a:off x="8458200" y="2476500"/>
            <a:ext cx="457200" cy="45720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429B52-6501-4AD3-A412-7592FCF355E8}"/>
              </a:ext>
            </a:extLst>
          </p:cNvPr>
          <p:cNvSpPr>
            <a:spLocks noGrp="1"/>
          </p:cNvSpPr>
          <p:nvPr/>
        </p:nvSpPr>
        <p:spPr>
          <a:xfrm>
            <a:off x="1447800" y="250507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Supervised pairwise ranking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B361C6-E5F5-4E44-8E98-FDC41AF2E437}"/>
              </a:ext>
            </a:extLst>
          </p:cNvPr>
          <p:cNvSpPr>
            <a:spLocks noGrp="1"/>
          </p:cNvSpPr>
          <p:nvPr/>
        </p:nvSpPr>
        <p:spPr>
          <a:xfrm>
            <a:off x="5257800" y="250507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Online reinforcement learning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938A18-E6B9-4696-AF29-1CE2BCD1ED06}"/>
              </a:ext>
            </a:extLst>
          </p:cNvPr>
          <p:cNvSpPr>
            <a:spLocks noGrp="1"/>
          </p:cNvSpPr>
          <p:nvPr/>
        </p:nvSpPr>
        <p:spPr>
          <a:xfrm>
            <a:off x="9067800" y="250507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2C55E"/>
                </a:solidFill>
                <a:latin typeface="Aptos"/>
                <a:ea typeface="Aptos"/>
                <a:cs typeface="Aptos"/>
              </a:rPr>
              <a:t>Validation safety gate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1B77BC-E893-4102-AF8D-B43D543103BF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LRU behavior observes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15,000 training requests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98EA4A2-5168-4954-8F40-BCF79FCD6058}"/>
              </a:ext>
            </a:extLst>
          </p:cNvPr>
          <p:cNvSpPr>
            <a:spLocks noGrp="1"/>
          </p:cNvSpPr>
          <p:nvPr/>
        </p:nvSpPr>
        <p:spPr>
          <a:xfrm>
            <a:off x="1028700" y="3886200"/>
            <a:ext cx="2609850" cy="628650"/>
          </a:xfrm>
          <a:prstGeom prst="roundRect">
            <a:avLst>
              <a:gd name="adj" fmla="val 12121"/>
            </a:avLst>
          </a:prstGeom>
          <a:solidFill>
            <a:srgbClr val="0B203B"/>
          </a:solidFill>
          <a:ln w="9525">
            <a:solidFill>
              <a:srgbClr val="7C5CFC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uᵢ = 1 / reuse distance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within horizon H = 32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E711E8-8925-4FF0-890C-FCEA5B00A38E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B7C5D6"/>
                </a:solidFill>
                <a:latin typeface="Aptos"/>
                <a:ea typeface="Aptos"/>
                <a:cs typeface="Aptos"/>
              </a:rPr>
              <a:t>sooner reuse  →  higher score</a:t>
            </a:r>
          </a:p>
          <a:p>
            <a:pPr algn="ctr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B7C5D6"/>
                </a:solidFill>
                <a:latin typeface="Aptos"/>
                <a:ea typeface="Aptos"/>
                <a:cs typeface="Aptos"/>
              </a:rPr>
              <a:t>complete pre-eviction candidate set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82AE3D-C163-445A-BE3C-0E37D54CFB75}"/>
              </a:ext>
            </a:extLst>
          </p:cNvPr>
          <p:cNvSpPr>
            <a:spLocks noGrp="1"/>
          </p:cNvSpPr>
          <p:nvPr/>
        </p:nvSpPr>
        <p:spPr>
          <a:xfrm>
            <a:off x="4686300" y="32004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Local reward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7C68755-D777-43CD-A48D-849B03829772}"/>
              </a:ext>
            </a:extLst>
          </p:cNvPr>
          <p:cNvSpPr>
            <a:spLocks noGrp="1"/>
          </p:cNvSpPr>
          <p:nvPr/>
        </p:nvSpPr>
        <p:spPr>
          <a:xfrm>
            <a:off x="4876800" y="3619500"/>
            <a:ext cx="2533650" cy="666750"/>
          </a:xfrm>
          <a:prstGeom prst="roundRect">
            <a:avLst>
              <a:gd name="adj" fmla="val 11429"/>
            </a:avLst>
          </a:prstGeom>
          <a:solidFill>
            <a:srgbClr val="0B203B"/>
          </a:solidFill>
          <a:ln w="9525">
            <a:solidFill>
              <a:srgbClr val="18C2B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 = 1 hit  ·  r = 0 miss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E56300-4568-404D-BA60-DCF6CC2C3B65}"/>
              </a:ext>
            </a:extLst>
          </p:cNvPr>
          <p:cNvSpPr>
            <a:spLocks noGrp="1"/>
          </p:cNvSpPr>
          <p:nvPr/>
        </p:nvSpPr>
        <p:spPr>
          <a:xfrm>
            <a:off x="4686300" y="4505325"/>
            <a:ext cx="2914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A replacement receives only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later router-local hit rewards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A3D59F-0984-434F-9265-D1C07E2F2B3F}"/>
              </a:ext>
            </a:extLst>
          </p:cNvPr>
          <p:cNvSpPr>
            <a:spLocks noGrp="1"/>
          </p:cNvSpPr>
          <p:nvPr/>
        </p:nvSpPr>
        <p:spPr>
          <a:xfrm>
            <a:off x="8496300" y="32004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Compare on 2,500 validation requests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0E8BA5-8C10-4501-96C3-CDE30473C152}"/>
              </a:ext>
            </a:extLst>
          </p:cNvPr>
          <p:cNvSpPr>
            <a:spLocks noGrp="1"/>
          </p:cNvSpPr>
          <p:nvPr/>
        </p:nvSpPr>
        <p:spPr>
          <a:xfrm>
            <a:off x="8629650" y="3886200"/>
            <a:ext cx="2647950" cy="990600"/>
          </a:xfrm>
          <a:prstGeom prst="roundRect">
            <a:avLst>
              <a:gd name="adj" fmla="val 7692"/>
            </a:avLst>
          </a:prstGeom>
          <a:solidFill>
            <a:srgbClr val="0B203B"/>
          </a:solidFill>
          <a:ln w="9525">
            <a:solidFill>
              <a:srgbClr val="22C55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initial causal prior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vs supervised checkpoint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vs RL checkpoint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584CE6-D645-4ABB-A513-53E7E0B2ACF6}"/>
              </a:ext>
            </a:extLst>
          </p:cNvPr>
          <p:cNvSpPr>
            <a:spLocks noGrp="1"/>
          </p:cNvSpPr>
          <p:nvPr/>
        </p:nvSpPr>
        <p:spPr>
          <a:xfrm>
            <a:off x="8496300" y="5095875"/>
            <a:ext cx="2914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22C55E"/>
                </a:solidFill>
                <a:latin typeface="Aptos"/>
                <a:ea typeface="Aptos"/>
                <a:cs typeface="Aptos"/>
              </a:rPr>
              <a:t>keep the highest validation hit ratio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B3F22D0C-4E1C-4015-BB41-5D1116053FF3}"/>
              </a:ext>
            </a:extLst>
          </p:cNvPr>
          <p:cNvSpPr>
            <a:spLocks noGrp="1"/>
          </p:cNvSpPr>
          <p:nvPr/>
        </p:nvSpPr>
        <p:spPr>
          <a:xfrm>
            <a:off x="4038600" y="4019550"/>
            <a:ext cx="400050" cy="247650"/>
          </a:xfrm>
          <a:prstGeom prst="rightArrow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79880F98-EF64-4616-9993-95E41354417D}"/>
              </a:ext>
            </a:extLst>
          </p:cNvPr>
          <p:cNvSpPr>
            <a:spLocks noGrp="1"/>
          </p:cNvSpPr>
          <p:nvPr/>
        </p:nvSpPr>
        <p:spPr>
          <a:xfrm>
            <a:off x="7848600" y="4019550"/>
            <a:ext cx="400050" cy="247650"/>
          </a:xfrm>
          <a:prstGeom prst="rightArrow">
            <a:avLst/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9020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C4D29EE0-0900-4F0B-8CAC-7DE7D34721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EF79A0-51ED-472A-827F-6D1C09B644BB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190FBB-5296-4BBB-8EBA-15D063703F7A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 parameters</a:t>
            </a:r>
            <a:endParaRPr sz="3450" b="1" i="0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05F9AA-DB9F-4AFE-8C74-E77E3A2E1839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lang="en-US"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11</a:t>
            </a:r>
            <a:endParaRPr sz="1500" b="1" i="0" dirty="0">
              <a:solidFill>
                <a:srgbClr val="A899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A8452A2-8F77-4F55-B5F1-FF4DE519461A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E0470C-B3CF-42A7-A616-CDAE62BB7DC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426B8B2-BC99-43C3-9FBE-21BB2EB827A2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7C5CF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B2E65B-48AE-4E64-8DBB-4C46BD2E8C2D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SYNTHETIC REQUEST TRACE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011908-5A79-4A1E-B5FF-626948B63F4F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20,000 consumer requests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C606-8019-448F-A81C-A3396245106A}"/>
              </a:ext>
            </a:extLst>
          </p:cNvPr>
          <p:cNvSpPr>
            <a:spLocks noGrp="1"/>
          </p:cNvSpPr>
          <p:nvPr/>
        </p:nvSpPr>
        <p:spPr>
          <a:xfrm>
            <a:off x="628650" y="2286000"/>
            <a:ext cx="3829050" cy="6096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8CBF30-52B7-42C8-B921-5146C63DE0B7}"/>
              </a:ext>
            </a:extLst>
          </p:cNvPr>
          <p:cNvSpPr>
            <a:spLocks noGrp="1"/>
          </p:cNvSpPr>
          <p:nvPr/>
        </p:nvSpPr>
        <p:spPr>
          <a:xfrm>
            <a:off x="4457700" y="2286000"/>
            <a:ext cx="638175" cy="609600"/>
          </a:xfrm>
          <a:prstGeom prst="rect">
            <a:avLst/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F6176F-EE45-472E-906E-D5DB48D6BF52}"/>
              </a:ext>
            </a:extLst>
          </p:cNvPr>
          <p:cNvSpPr>
            <a:spLocks noGrp="1"/>
          </p:cNvSpPr>
          <p:nvPr/>
        </p:nvSpPr>
        <p:spPr>
          <a:xfrm>
            <a:off x="5095875" y="2286000"/>
            <a:ext cx="638175" cy="6096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A4B7EF-CB8E-4460-BFD3-EBB6C677DA03}"/>
              </a:ext>
            </a:extLst>
          </p:cNvPr>
          <p:cNvSpPr>
            <a:spLocks noGrp="1"/>
          </p:cNvSpPr>
          <p:nvPr/>
        </p:nvSpPr>
        <p:spPr>
          <a:xfrm>
            <a:off x="704850" y="2447925"/>
            <a:ext cx="3676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TRAIN 15,000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F151F-3A86-48CE-BD0A-3F47037A660B}"/>
              </a:ext>
            </a:extLst>
          </p:cNvPr>
          <p:cNvSpPr>
            <a:spLocks noGrp="1"/>
          </p:cNvSpPr>
          <p:nvPr/>
        </p:nvSpPr>
        <p:spPr>
          <a:xfrm>
            <a:off x="4457700" y="2371725"/>
            <a:ext cx="6381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82C"/>
                </a:solidFill>
                <a:latin typeface="Aptos"/>
                <a:ea typeface="Aptos"/>
                <a:cs typeface="Aptos"/>
              </a:rPr>
              <a:t>VAL</a:t>
            </a:r>
          </a:p>
          <a:p>
            <a:pPr algn="ctr">
              <a:lnSpc>
                <a:spcPct val="100000"/>
              </a:lnSpc>
              <a:buNone/>
              <a:defRPr sz="1125" b="1" i="0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82C"/>
                </a:solidFill>
                <a:latin typeface="Aptos"/>
                <a:ea typeface="Aptos"/>
                <a:cs typeface="Aptos"/>
              </a:rPr>
              <a:t>2,500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C05C01-995C-4942-8E4B-094C1E787E6B}"/>
              </a:ext>
            </a:extLst>
          </p:cNvPr>
          <p:cNvSpPr>
            <a:spLocks noGrp="1"/>
          </p:cNvSpPr>
          <p:nvPr/>
        </p:nvSpPr>
        <p:spPr>
          <a:xfrm>
            <a:off x="5095875" y="2371725"/>
            <a:ext cx="6381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125" b="1" i="0" dirty="0">
                <a:solidFill>
                  <a:srgbClr val="07182C"/>
                </a:solidFill>
                <a:latin typeface="Aptos"/>
                <a:ea typeface="Aptos"/>
                <a:cs typeface="Aptos"/>
              </a:rPr>
              <a:t>TEST</a:t>
            </a:r>
          </a:p>
          <a:p>
            <a:pPr algn="ctr">
              <a:lnSpc>
                <a:spcPct val="100000"/>
              </a:lnSpc>
              <a:buNone/>
              <a:defRPr sz="1125" b="1" i="0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125" b="1" i="0" dirty="0">
                <a:solidFill>
                  <a:srgbClr val="07182C"/>
                </a:solidFill>
                <a:latin typeface="Aptos"/>
                <a:ea typeface="Aptos"/>
                <a:cs typeface="Aptos"/>
              </a:rPr>
              <a:t>2,500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B6DDB9-7330-428F-A20C-154C5DB1237B}"/>
              </a:ext>
            </a:extLst>
          </p:cNvPr>
          <p:cNvSpPr>
            <a:spLocks noGrp="1"/>
          </p:cNvSpPr>
          <p:nvPr/>
        </p:nvSpPr>
        <p:spPr>
          <a:xfrm>
            <a:off x="628650" y="3009900"/>
            <a:ext cx="510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chronological — never shuffled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52F3F71-33C1-4CAA-B443-5DB86FE227E7}"/>
              </a:ext>
            </a:extLst>
          </p:cNvPr>
          <p:cNvSpPr>
            <a:spLocks noGrp="1"/>
          </p:cNvSpPr>
          <p:nvPr/>
        </p:nvSpPr>
        <p:spPr>
          <a:xfrm>
            <a:off x="628650" y="3448050"/>
            <a:ext cx="5105400" cy="323850"/>
          </a:xfrm>
          <a:prstGeom prst="roundRect">
            <a:avLst>
              <a:gd name="adj" fmla="val 11765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720CB5-B0DB-4CD7-8FD9-726B39164DF4}"/>
              </a:ext>
            </a:extLst>
          </p:cNvPr>
          <p:cNvSpPr>
            <a:spLocks noGrp="1"/>
          </p:cNvSpPr>
          <p:nvPr/>
        </p:nvSpPr>
        <p:spPr>
          <a:xfrm>
            <a:off x="723900" y="34766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F84268-FF5E-44F9-856F-EA168388744A}"/>
              </a:ext>
            </a:extLst>
          </p:cNvPr>
          <p:cNvSpPr>
            <a:spLocks noGrp="1"/>
          </p:cNvSpPr>
          <p:nvPr/>
        </p:nvSpPr>
        <p:spPr>
          <a:xfrm>
            <a:off x="2114550" y="3476625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300 packets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E26E0C-A777-4FF1-87FA-924FA169CDA2}"/>
              </a:ext>
            </a:extLst>
          </p:cNvPr>
          <p:cNvSpPr>
            <a:spLocks noGrp="1"/>
          </p:cNvSpPr>
          <p:nvPr/>
        </p:nvSpPr>
        <p:spPr>
          <a:xfrm>
            <a:off x="3371850" y="347662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Name categories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E26E23-A71B-4C03-B5AE-BAED6B8D5208}"/>
              </a:ext>
            </a:extLst>
          </p:cNvPr>
          <p:cNvSpPr>
            <a:spLocks noGrp="1"/>
          </p:cNvSpPr>
          <p:nvPr/>
        </p:nvSpPr>
        <p:spPr>
          <a:xfrm>
            <a:off x="4819650" y="3476625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14627-03BD-4712-A13C-22C09ABD18F6}"/>
              </a:ext>
            </a:extLst>
          </p:cNvPr>
          <p:cNvSpPr>
            <a:spLocks noGrp="1"/>
          </p:cNvSpPr>
          <p:nvPr/>
        </p:nvSpPr>
        <p:spPr>
          <a:xfrm>
            <a:off x="723900" y="3848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consumer routers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E976B6-01D1-4F66-8DD2-BCABCCED276C}"/>
              </a:ext>
            </a:extLst>
          </p:cNvPr>
          <p:cNvSpPr>
            <a:spLocks noGrp="1"/>
          </p:cNvSpPr>
          <p:nvPr/>
        </p:nvSpPr>
        <p:spPr>
          <a:xfrm>
            <a:off x="2114550" y="38481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464A55-9297-4720-984F-DC1268FE71BC}"/>
              </a:ext>
            </a:extLst>
          </p:cNvPr>
          <p:cNvSpPr>
            <a:spLocks noGrp="1"/>
          </p:cNvSpPr>
          <p:nvPr/>
        </p:nvSpPr>
        <p:spPr>
          <a:xfrm>
            <a:off x="3371850" y="384810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node-demand skew α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123FE8-A8B1-4231-8613-F1006236C733}"/>
              </a:ext>
            </a:extLst>
          </p:cNvPr>
          <p:cNvSpPr>
            <a:spLocks noGrp="1"/>
          </p:cNvSpPr>
          <p:nvPr/>
        </p:nvSpPr>
        <p:spPr>
          <a:xfrm>
            <a:off x="4819650" y="384810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0.7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E7C70E9-1736-41B0-B944-ABDC025BC63D}"/>
              </a:ext>
            </a:extLst>
          </p:cNvPr>
          <p:cNvSpPr>
            <a:spLocks noGrp="1"/>
          </p:cNvSpPr>
          <p:nvPr/>
        </p:nvSpPr>
        <p:spPr>
          <a:xfrm>
            <a:off x="628650" y="4191000"/>
            <a:ext cx="5105400" cy="323850"/>
          </a:xfrm>
          <a:prstGeom prst="roundRect">
            <a:avLst>
              <a:gd name="adj" fmla="val 11765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6B312E-5705-4981-9562-1DF62B3527EC}"/>
              </a:ext>
            </a:extLst>
          </p:cNvPr>
          <p:cNvSpPr>
            <a:spLocks noGrp="1"/>
          </p:cNvSpPr>
          <p:nvPr/>
        </p:nvSpPr>
        <p:spPr>
          <a:xfrm>
            <a:off x="723900" y="42195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Zipf popularity α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ADFDC5-43FA-4C7A-82C2-9BE9DD1BCC22}"/>
              </a:ext>
            </a:extLst>
          </p:cNvPr>
          <p:cNvSpPr>
            <a:spLocks noGrp="1"/>
          </p:cNvSpPr>
          <p:nvPr/>
        </p:nvSpPr>
        <p:spPr>
          <a:xfrm>
            <a:off x="2114550" y="4219575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422A29-B8E5-4D0F-A4A8-ED4EDB648807}"/>
              </a:ext>
            </a:extLst>
          </p:cNvPr>
          <p:cNvSpPr>
            <a:spLocks noGrp="1"/>
          </p:cNvSpPr>
          <p:nvPr/>
        </p:nvSpPr>
        <p:spPr>
          <a:xfrm>
            <a:off x="3371850" y="421957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temporal locality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8702E3-A0D1-4AE8-B2A9-97E6CFA952C6}"/>
              </a:ext>
            </a:extLst>
          </p:cNvPr>
          <p:cNvSpPr>
            <a:spLocks noGrp="1"/>
          </p:cNvSpPr>
          <p:nvPr/>
        </p:nvSpPr>
        <p:spPr>
          <a:xfrm>
            <a:off x="4819650" y="4219575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0.45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A1F1D2-8730-4E80-85D6-424D6E69530A}"/>
              </a:ext>
            </a:extLst>
          </p:cNvPr>
          <p:cNvSpPr>
            <a:spLocks noGrp="1"/>
          </p:cNvSpPr>
          <p:nvPr/>
        </p:nvSpPr>
        <p:spPr>
          <a:xfrm>
            <a:off x="723900" y="45910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locality window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39DDB5-43E6-45F4-855F-F00272D01A31}"/>
              </a:ext>
            </a:extLst>
          </p:cNvPr>
          <p:cNvSpPr>
            <a:spLocks noGrp="1"/>
          </p:cNvSpPr>
          <p:nvPr/>
        </p:nvSpPr>
        <p:spPr>
          <a:xfrm>
            <a:off x="2114550" y="45910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D49546-9B5B-49D4-B145-57C324644333}"/>
              </a:ext>
            </a:extLst>
          </p:cNvPr>
          <p:cNvSpPr>
            <a:spLocks noGrp="1"/>
          </p:cNvSpPr>
          <p:nvPr/>
        </p:nvSpPr>
        <p:spPr>
          <a:xfrm>
            <a:off x="3371850" y="45910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locality decay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96A4E5-C7F2-46C4-A82D-F8AFB3421687}"/>
              </a:ext>
            </a:extLst>
          </p:cNvPr>
          <p:cNvSpPr>
            <a:spLocks noGrp="1"/>
          </p:cNvSpPr>
          <p:nvPr/>
        </p:nvSpPr>
        <p:spPr>
          <a:xfrm>
            <a:off x="4819650" y="459105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0.88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9918334-96F2-4E02-A7DB-39A6D265F0AD}"/>
              </a:ext>
            </a:extLst>
          </p:cNvPr>
          <p:cNvSpPr>
            <a:spLocks noGrp="1"/>
          </p:cNvSpPr>
          <p:nvPr/>
        </p:nvSpPr>
        <p:spPr>
          <a:xfrm>
            <a:off x="628650" y="4933950"/>
            <a:ext cx="5105400" cy="323850"/>
          </a:xfrm>
          <a:prstGeom prst="roundRect">
            <a:avLst>
              <a:gd name="adj" fmla="val 11765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CF0D4D-6053-4014-A5C5-9AA8202CA92A}"/>
              </a:ext>
            </a:extLst>
          </p:cNvPr>
          <p:cNvSpPr>
            <a:spLocks noGrp="1"/>
          </p:cNvSpPr>
          <p:nvPr/>
        </p:nvSpPr>
        <p:spPr>
          <a:xfrm>
            <a:off x="723900" y="49625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popularity drift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448203-E670-42A4-BBB5-08C3D2D4BB48}"/>
              </a:ext>
            </a:extLst>
          </p:cNvPr>
          <p:cNvSpPr>
            <a:spLocks noGrp="1"/>
          </p:cNvSpPr>
          <p:nvPr/>
        </p:nvSpPr>
        <p:spPr>
          <a:xfrm>
            <a:off x="2114550" y="4962525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5% / 1,000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0A17581-EDA7-4DED-9AA1-5BA149098435}"/>
              </a:ext>
            </a:extLst>
          </p:cNvPr>
          <p:cNvSpPr>
            <a:spLocks noGrp="1"/>
          </p:cNvSpPr>
          <p:nvPr/>
        </p:nvSpPr>
        <p:spPr>
          <a:xfrm>
            <a:off x="3371850" y="496252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request rate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09D541-4AFD-4E6D-8FE7-6BCA986C7A59}"/>
              </a:ext>
            </a:extLst>
          </p:cNvPr>
          <p:cNvSpPr>
            <a:spLocks noGrp="1"/>
          </p:cNvSpPr>
          <p:nvPr/>
        </p:nvSpPr>
        <p:spPr>
          <a:xfrm>
            <a:off x="4819650" y="4962525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20 / time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5C818E-D075-4755-ADFC-84F0E584437E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66CA48-71B5-432B-929C-1A2466B64C1B}"/>
              </a:ext>
            </a:extLst>
          </p:cNvPr>
          <p:cNvSpPr>
            <a:spLocks noGrp="1"/>
          </p:cNvSpPr>
          <p:nvPr/>
        </p:nvSpPr>
        <p:spPr>
          <a:xfrm>
            <a:off x="2114550" y="53340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2–300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131AC28-9C8C-47B0-AD05-B16290987A79}"/>
              </a:ext>
            </a:extLst>
          </p:cNvPr>
          <p:cNvSpPr>
            <a:spLocks noGrp="1"/>
          </p:cNvSpPr>
          <p:nvPr/>
        </p:nvSpPr>
        <p:spPr>
          <a:xfrm>
            <a:off x="3371850" y="533400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MustBeFresh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238865-640E-4EDB-BC96-125680D8ACE9}"/>
              </a:ext>
            </a:extLst>
          </p:cNvPr>
          <p:cNvSpPr>
            <a:spLocks noGrp="1"/>
          </p:cNvSpPr>
          <p:nvPr/>
        </p:nvSpPr>
        <p:spPr>
          <a:xfrm>
            <a:off x="4819650" y="533400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enabled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4A6F850-4E64-4299-84DD-1491854EE96B}"/>
              </a:ext>
            </a:extLst>
          </p:cNvPr>
          <p:cNvSpPr>
            <a:spLocks noGrp="1"/>
          </p:cNvSpPr>
          <p:nvPr/>
        </p:nvSpPr>
        <p:spPr>
          <a:xfrm>
            <a:off x="628650" y="5676900"/>
            <a:ext cx="5105400" cy="323850"/>
          </a:xfrm>
          <a:prstGeom prst="roundRect">
            <a:avLst>
              <a:gd name="adj" fmla="val 11765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FF3C923-9505-4064-94C0-784DE857A8B5}"/>
              </a:ext>
            </a:extLst>
          </p:cNvPr>
          <p:cNvSpPr>
            <a:spLocks noGrp="1"/>
          </p:cNvSpPr>
          <p:nvPr/>
        </p:nvSpPr>
        <p:spPr>
          <a:xfrm>
            <a:off x="723900" y="57054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packet size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30990F3-C0D2-4CF8-B511-E9C65C4B8738}"/>
              </a:ext>
            </a:extLst>
          </p:cNvPr>
          <p:cNvSpPr>
            <a:spLocks noGrp="1"/>
          </p:cNvSpPr>
          <p:nvPr/>
        </p:nvSpPr>
        <p:spPr>
          <a:xfrm>
            <a:off x="2114550" y="5705475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 unit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396D4B-071C-4671-AACD-E1FD2C33C382}"/>
              </a:ext>
            </a:extLst>
          </p:cNvPr>
          <p:cNvSpPr>
            <a:spLocks noGrp="1"/>
          </p:cNvSpPr>
          <p:nvPr/>
        </p:nvSpPr>
        <p:spPr>
          <a:xfrm>
            <a:off x="3371850" y="570547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locked test seed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3FADECE-9BD5-4E49-A96E-38A4E56D280A}"/>
              </a:ext>
            </a:extLst>
          </p:cNvPr>
          <p:cNvSpPr>
            <a:spLocks noGrp="1"/>
          </p:cNvSpPr>
          <p:nvPr/>
        </p:nvSpPr>
        <p:spPr>
          <a:xfrm>
            <a:off x="4819650" y="5705475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24526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BC80166-B8C2-44E4-8BC7-33DBE18CD2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7C5CFC"/>
          </a:solidFill>
          <a:ln w="9525">
            <a:solidFill>
              <a:srgbClr val="7C5C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C054BE-4FD8-4698-9754-0DF076D852A5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DISTRIBUTED SYSTEMS ·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6EFEFA-B9F2-482A-9501-DC1BC336AC65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dirty="0"/>
              <a:t>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73BD2-60D7-4FAD-B7B4-13524746514D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1</a:t>
            </a:r>
            <a:r>
              <a:rPr lang="en-US" sz="1500" b="1" i="0" dirty="0">
                <a:solidFill>
                  <a:srgbClr val="A899FF"/>
                </a:solidFill>
                <a:latin typeface="Aptos"/>
                <a:ea typeface="Aptos"/>
                <a:cs typeface="Aptos"/>
              </a:rPr>
              <a:t>2</a:t>
            </a:r>
            <a:endParaRPr sz="1500" b="1" i="0" dirty="0">
              <a:solidFill>
                <a:srgbClr val="A899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F9B6950-4A3D-4379-BE5C-641D5C13705D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0122FB-7A6E-48C7-A258-1798DF064A0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7FE7164-67BE-4941-B97F-3BE2EA56A301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7C5CFC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A32DBD-76BB-4C00-8B5D-1C4D436E18C9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11087100" cy="3143250"/>
          </a:xfrm>
          <a:prstGeom prst="roundRect">
            <a:avLst>
              <a:gd name="adj" fmla="val 3636"/>
            </a:avLst>
          </a:prstGeom>
          <a:solidFill>
            <a:srgbClr val="F2F7FA"/>
          </a:solidFill>
          <a:ln w="9525">
            <a:solidFill>
              <a:srgbClr val="D7E0E8"/>
            </a:solidFill>
            <a:prstDash val="solid"/>
          </a:ln>
        </p:spPr>
      </p:sp>
      <p:graphicFrame>
        <p:nvGraphicFramePr>
          <p:cNvPr id="33" name="Chart"/>
          <p:cNvGraphicFramePr/>
          <p:nvPr>
            <p:extLst>
              <p:ext uri="{D42A27DB-BD31-4B8C-83A1-F6EECF244321}">
                <p14:modId xmlns:p14="http://schemas.microsoft.com/office/powerpoint/2010/main" val="412942566"/>
              </p:ext>
            </p:extLst>
          </p:nvPr>
        </p:nvGraphicFramePr>
        <p:xfrm>
          <a:off x="742950" y="1447803"/>
          <a:ext cx="10668000" cy="2914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7" name="Table 46"/>
          <p:cNvGraphicFramePr/>
          <p:nvPr>
            <p:extLst>
              <p:ext uri="{D42A27DB-BD31-4B8C-83A1-F6EECF244321}">
                <p14:modId xmlns:p14="http://schemas.microsoft.com/office/powerpoint/2010/main" val="2258331684"/>
              </p:ext>
            </p:extLst>
          </p:nvPr>
        </p:nvGraphicFramePr>
        <p:xfrm>
          <a:off x="552450" y="4743450"/>
          <a:ext cx="11087100" cy="1783080"/>
        </p:xfrm>
        <a:graphic>
          <a:graphicData uri="http://schemas.openxmlformats.org/drawingml/2006/table">
            <a:tbl>
              <a:tblPr/>
              <a:tblGrid>
                <a:gridCol w="221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Topology</a:t>
                      </a:r>
                    </a:p>
                  </a:txBody>
                  <a:tcPr>
                    <a:solidFill>
                      <a:srgbClr val="0B20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Neural</a:t>
                      </a:r>
                    </a:p>
                  </a:txBody>
                  <a:tcPr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LRU</a:t>
                      </a:r>
                    </a:p>
                  </a:txBody>
                  <a:tcPr>
                    <a:solidFill>
                      <a:srgbClr val="0F8F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LFU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FIFO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Random</a:t>
                      </a:r>
                    </a:p>
                  </a:txBody>
                  <a:tcPr>
                    <a:solidFill>
                      <a:srgbClr val="94A3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/>
                      <a:r>
                        <a:rPr sz="1350" b="0" dirty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Line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dirty="0">
                          <a:solidFill>
                            <a:srgbClr val="A899FF"/>
                          </a:solidFill>
                          <a:latin typeface="Aptos"/>
                          <a:ea typeface="Aptos"/>
                          <a:cs typeface="Aptos"/>
                        </a:rPr>
                        <a:t>74.64%</a:t>
                      </a:r>
                    </a:p>
                  </a:txBody>
                  <a:tcPr>
                    <a:solidFill>
                      <a:srgbClr val="221E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70.32%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62.40%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65.32%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70.64%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Ring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899FF"/>
                          </a:solidFill>
                          <a:latin typeface="Aptos"/>
                          <a:ea typeface="Aptos"/>
                          <a:cs typeface="Aptos"/>
                        </a:rPr>
                        <a:t>74.64%</a:t>
                      </a:r>
                    </a:p>
                  </a:txBody>
                  <a:tcPr>
                    <a:solidFill>
                      <a:srgbClr val="221E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72.04%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58.08%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68.80%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70.24%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Star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A899FF"/>
                          </a:solidFill>
                          <a:latin typeface="Aptos"/>
                          <a:ea typeface="Aptos"/>
                          <a:cs typeface="Aptos"/>
                        </a:rPr>
                        <a:t>74.96%</a:t>
                      </a:r>
                    </a:p>
                  </a:txBody>
                  <a:tcPr>
                    <a:solidFill>
                      <a:srgbClr val="221E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71.24%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55.48%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67.08%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69.68%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Mesh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dirty="0">
                          <a:solidFill>
                            <a:srgbClr val="A899FF"/>
                          </a:solidFill>
                          <a:latin typeface="Aptos"/>
                          <a:ea typeface="Aptos"/>
                          <a:cs typeface="Aptos"/>
                        </a:rPr>
                        <a:t>75.00%</a:t>
                      </a:r>
                    </a:p>
                  </a:txBody>
                  <a:tcPr>
                    <a:solidFill>
                      <a:srgbClr val="221E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73.72%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54.88%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70.92%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69.28%</a:t>
                      </a:r>
                    </a:p>
                  </a:txBody>
                  <a:tcPr>
                    <a:solidFill>
                      <a:srgbClr val="10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/>
                      <a:r>
                        <a:rPr sz="1350" b="1" dirty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Mean</a:t>
                      </a:r>
                    </a:p>
                  </a:txBody>
                  <a:tcPr>
                    <a:solidFill>
                      <a:srgbClr val="0B203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1350" b="1" dirty="0">
                          <a:solidFill>
                            <a:srgbClr val="A899FF"/>
                          </a:solidFill>
                          <a:latin typeface="Aptos"/>
                          <a:ea typeface="Aptos"/>
                          <a:cs typeface="Aptos"/>
                        </a:rPr>
                        <a:t>74.81%</a:t>
                      </a:r>
                    </a:p>
                  </a:txBody>
                  <a:tcPr>
                    <a:solidFill>
                      <a:srgbClr val="0B20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71.83%</a:t>
                      </a:r>
                    </a:p>
                  </a:txBody>
                  <a:tcPr>
                    <a:solidFill>
                      <a:srgbClr val="0B20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57.71%</a:t>
                      </a:r>
                    </a:p>
                  </a:txBody>
                  <a:tcPr>
                    <a:solidFill>
                      <a:srgbClr val="0B20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68.03%</a:t>
                      </a:r>
                    </a:p>
                  </a:txBody>
                  <a:tcPr>
                    <a:solidFill>
                      <a:srgbClr val="0B20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dirty="0">
                          <a:solidFill>
                            <a:srgbClr val="F8FAFC"/>
                          </a:solidFill>
                          <a:latin typeface="Aptos"/>
                          <a:ea typeface="Aptos"/>
                          <a:cs typeface="Aptos"/>
                        </a:rPr>
                        <a:t>69.96%</a:t>
                      </a:r>
                    </a:p>
                  </a:txBody>
                  <a:tcPr>
                    <a:solidFill>
                      <a:srgbClr val="0B20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90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28AE1E7B-C59D-4F89-AF44-1BA006A501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DC5649-3EB1-4009-83BD-D0DB3C9C83FE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APPENDIX · TECHNICAL REFERENCE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D17C01-A4EB-4284-8A1F-81053906C3F5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en-US"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</a:t>
            </a:r>
            <a:r>
              <a:rPr sz="3450" b="1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odel and training hyperparameters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1AFB6D-8249-4109-ABED-DF3EB4CAFB3B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A1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0A27139-D88A-4FF8-87F8-3BB5988FEDC1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E280B9-0B2A-45DD-8F1E-15E1162D0C3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AA4283D-D33E-4113-A7A0-01DF7812CD87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18C2B5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D71975-4371-4ED7-8D4B-CC9E40A2D5F6}"/>
              </a:ext>
            </a:extLst>
          </p:cNvPr>
          <p:cNvSpPr>
            <a:spLocks noGrp="1"/>
          </p:cNvSpPr>
          <p:nvPr/>
        </p:nvSpPr>
        <p:spPr>
          <a:xfrm>
            <a:off x="552450" y="1457325"/>
            <a:ext cx="3371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65CAF72-3897-49AA-A75A-6CBBE5C0EEC7}"/>
              </a:ext>
            </a:extLst>
          </p:cNvPr>
          <p:cNvSpPr>
            <a:spLocks noGrp="1"/>
          </p:cNvSpPr>
          <p:nvPr/>
        </p:nvSpPr>
        <p:spPr>
          <a:xfrm>
            <a:off x="552450" y="1819275"/>
            <a:ext cx="3371850" cy="0"/>
          </a:xfrm>
          <a:prstGeom prst="line">
            <a:avLst/>
          </a:prstGeom>
          <a:noFill/>
          <a:ln w="19050">
            <a:solidFill>
              <a:srgbClr val="A899FF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0CD88B-E20E-47B1-90DD-DB5C21FB8A92}"/>
              </a:ext>
            </a:extLst>
          </p:cNvPr>
          <p:cNvSpPr>
            <a:spLocks noGrp="1"/>
          </p:cNvSpPr>
          <p:nvPr/>
        </p:nvSpPr>
        <p:spPr>
          <a:xfrm>
            <a:off x="552450" y="19145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59B170-B08D-45A6-916F-80F00BF7E7B1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Vocabulary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A57727-8832-4CFD-B9C0-BA07963E5450}"/>
              </a:ext>
            </a:extLst>
          </p:cNvPr>
          <p:cNvSpPr>
            <a:spLocks noGrp="1"/>
          </p:cNvSpPr>
          <p:nvPr/>
        </p:nvSpPr>
        <p:spPr>
          <a:xfrm>
            <a:off x="2912745" y="19526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4,096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0CBBD-9949-4EEE-BB2C-71B5A7456AEC}"/>
              </a:ext>
            </a:extLst>
          </p:cNvPr>
          <p:cNvSpPr>
            <a:spLocks noGrp="1"/>
          </p:cNvSpPr>
          <p:nvPr/>
        </p:nvSpPr>
        <p:spPr>
          <a:xfrm>
            <a:off x="628650" y="23526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Max Name components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9B392B-B47F-4D5C-AA34-217BD1D4782E}"/>
              </a:ext>
            </a:extLst>
          </p:cNvPr>
          <p:cNvSpPr>
            <a:spLocks noGrp="1"/>
          </p:cNvSpPr>
          <p:nvPr/>
        </p:nvSpPr>
        <p:spPr>
          <a:xfrm>
            <a:off x="2912745" y="23526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9C012E7-C5D0-4397-AB19-748CA64EEE15}"/>
              </a:ext>
            </a:extLst>
          </p:cNvPr>
          <p:cNvSpPr>
            <a:spLocks noGrp="1"/>
          </p:cNvSpPr>
          <p:nvPr/>
        </p:nvSpPr>
        <p:spPr>
          <a:xfrm>
            <a:off x="552450" y="27146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0AEA-AF30-4CB6-B5C7-DB98472AD9B2}"/>
              </a:ext>
            </a:extLst>
          </p:cNvPr>
          <p:cNvSpPr>
            <a:spLocks noGrp="1"/>
          </p:cNvSpPr>
          <p:nvPr/>
        </p:nvSpPr>
        <p:spPr>
          <a:xfrm>
            <a:off x="628650" y="27527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Embedding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DF409C-F118-4D3C-97AA-24EF7ECA844A}"/>
              </a:ext>
            </a:extLst>
          </p:cNvPr>
          <p:cNvSpPr>
            <a:spLocks noGrp="1"/>
          </p:cNvSpPr>
          <p:nvPr/>
        </p:nvSpPr>
        <p:spPr>
          <a:xfrm>
            <a:off x="2912745" y="27527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D00FE5-A585-4B01-B13A-9BAA3E39D1A0}"/>
              </a:ext>
            </a:extLst>
          </p:cNvPr>
          <p:cNvSpPr>
            <a:spLocks noGrp="1"/>
          </p:cNvSpPr>
          <p:nvPr/>
        </p:nvSpPr>
        <p:spPr>
          <a:xfrm>
            <a:off x="628650" y="31527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Name LSTM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DD180-36F0-4F41-AA18-3A8CF9E5CA49}"/>
              </a:ext>
            </a:extLst>
          </p:cNvPr>
          <p:cNvSpPr>
            <a:spLocks noGrp="1"/>
          </p:cNvSpPr>
          <p:nvPr/>
        </p:nvSpPr>
        <p:spPr>
          <a:xfrm>
            <a:off x="2912745" y="31527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D7CF7D9-D155-4A7F-B39B-CD1FA730C3EF}"/>
              </a:ext>
            </a:extLst>
          </p:cNvPr>
          <p:cNvSpPr>
            <a:spLocks noGrp="1"/>
          </p:cNvSpPr>
          <p:nvPr/>
        </p:nvSpPr>
        <p:spPr>
          <a:xfrm>
            <a:off x="552450" y="35147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10DB1E-B376-4ED7-8FE2-65904C967F4E}"/>
              </a:ext>
            </a:extLst>
          </p:cNvPr>
          <p:cNvSpPr>
            <a:spLocks noGrp="1"/>
          </p:cNvSpPr>
          <p:nvPr/>
        </p:nvSpPr>
        <p:spPr>
          <a:xfrm>
            <a:off x="628650" y="35528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Context LSTM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28B4FF-44BF-4008-91E8-7278531C9912}"/>
              </a:ext>
            </a:extLst>
          </p:cNvPr>
          <p:cNvSpPr>
            <a:spLocks noGrp="1"/>
          </p:cNvSpPr>
          <p:nvPr/>
        </p:nvSpPr>
        <p:spPr>
          <a:xfrm>
            <a:off x="2912745" y="35528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2531F8-E4E6-4BE8-A47E-F9F8EA17CD50}"/>
              </a:ext>
            </a:extLst>
          </p:cNvPr>
          <p:cNvSpPr>
            <a:spLocks noGrp="1"/>
          </p:cNvSpPr>
          <p:nvPr/>
        </p:nvSpPr>
        <p:spPr>
          <a:xfrm>
            <a:off x="628650" y="39528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Score-head hidden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D82DD2-BA03-43AB-9307-A10103431BF8}"/>
              </a:ext>
            </a:extLst>
          </p:cNvPr>
          <p:cNvSpPr>
            <a:spLocks noGrp="1"/>
          </p:cNvSpPr>
          <p:nvPr/>
        </p:nvSpPr>
        <p:spPr>
          <a:xfrm>
            <a:off x="2912745" y="39528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0F8CE9-B0E7-4660-8A88-3A24ABEB1B85}"/>
              </a:ext>
            </a:extLst>
          </p:cNvPr>
          <p:cNvSpPr>
            <a:spLocks noGrp="1"/>
          </p:cNvSpPr>
          <p:nvPr/>
        </p:nvSpPr>
        <p:spPr>
          <a:xfrm>
            <a:off x="552450" y="43148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C7CB15-CC88-41F6-BFED-1D89E08F1728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Numeric features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AFE0CD-21F3-4086-A11B-8BB391970E47}"/>
              </a:ext>
            </a:extLst>
          </p:cNvPr>
          <p:cNvSpPr>
            <a:spLocks noGrp="1"/>
          </p:cNvSpPr>
          <p:nvPr/>
        </p:nvSpPr>
        <p:spPr>
          <a:xfrm>
            <a:off x="2912745" y="43529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09A0FF-5763-4C12-809F-8DD50EAA53F3}"/>
              </a:ext>
            </a:extLst>
          </p:cNvPr>
          <p:cNvSpPr>
            <a:spLocks noGrp="1"/>
          </p:cNvSpPr>
          <p:nvPr/>
        </p:nvSpPr>
        <p:spPr>
          <a:xfrm>
            <a:off x="628650" y="47529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Dropout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078315-B557-4022-AAB9-355EAC0B2AE4}"/>
              </a:ext>
            </a:extLst>
          </p:cNvPr>
          <p:cNvSpPr>
            <a:spLocks noGrp="1"/>
          </p:cNvSpPr>
          <p:nvPr/>
        </p:nvSpPr>
        <p:spPr>
          <a:xfrm>
            <a:off x="2912745" y="47529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6EABF6-61C9-459B-8348-7A760348B7A9}"/>
              </a:ext>
            </a:extLst>
          </p:cNvPr>
          <p:cNvSpPr>
            <a:spLocks noGrp="1"/>
          </p:cNvSpPr>
          <p:nvPr/>
        </p:nvSpPr>
        <p:spPr>
          <a:xfrm>
            <a:off x="4400550" y="1457325"/>
            <a:ext cx="3371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POLICY + CACHE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F26EB41A-081D-4073-91A1-299A662B77F1}"/>
              </a:ext>
            </a:extLst>
          </p:cNvPr>
          <p:cNvSpPr>
            <a:spLocks noGrp="1"/>
          </p:cNvSpPr>
          <p:nvPr/>
        </p:nvSpPr>
        <p:spPr>
          <a:xfrm>
            <a:off x="4400550" y="1819275"/>
            <a:ext cx="3371850" cy="0"/>
          </a:xfrm>
          <a:prstGeom prst="line">
            <a:avLst/>
          </a:prstGeom>
          <a:noFill/>
          <a:ln w="19050">
            <a:solidFill>
              <a:srgbClr val="18C2B5"/>
            </a:solidFill>
            <a:prstDash val="solid"/>
          </a:ln>
        </p:spPr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F386E6F-1F35-49A3-A21A-D07ABB7C2924}"/>
              </a:ext>
            </a:extLst>
          </p:cNvPr>
          <p:cNvSpPr>
            <a:spLocks noGrp="1"/>
          </p:cNvSpPr>
          <p:nvPr/>
        </p:nvSpPr>
        <p:spPr>
          <a:xfrm>
            <a:off x="4400550" y="19145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77D247-9993-4320-B1A0-E27BB68D32E0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Popularity prior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1E2D59-5F5D-45A8-9141-D1EF98917330}"/>
              </a:ext>
            </a:extLst>
          </p:cNvPr>
          <p:cNvSpPr>
            <a:spLocks noGrp="1"/>
          </p:cNvSpPr>
          <p:nvPr/>
        </p:nvSpPr>
        <p:spPr>
          <a:xfrm>
            <a:off x="6760845" y="19526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ADB06B-F359-4C63-8886-2C7E9AE2AA78}"/>
              </a:ext>
            </a:extLst>
          </p:cNvPr>
          <p:cNvSpPr>
            <a:spLocks noGrp="1"/>
          </p:cNvSpPr>
          <p:nvPr/>
        </p:nvSpPr>
        <p:spPr>
          <a:xfrm>
            <a:off x="4476750" y="23526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Recency prior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BE2B4BD-3E2F-4C63-B28D-FA2F74CA9B84}"/>
              </a:ext>
            </a:extLst>
          </p:cNvPr>
          <p:cNvSpPr>
            <a:spLocks noGrp="1"/>
          </p:cNvSpPr>
          <p:nvPr/>
        </p:nvSpPr>
        <p:spPr>
          <a:xfrm>
            <a:off x="6760845" y="23526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0.0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8B7F1E6-5682-4917-9E2F-A5FD4474F2B7}"/>
              </a:ext>
            </a:extLst>
          </p:cNvPr>
          <p:cNvSpPr>
            <a:spLocks noGrp="1"/>
          </p:cNvSpPr>
          <p:nvPr/>
        </p:nvSpPr>
        <p:spPr>
          <a:xfrm>
            <a:off x="4400550" y="27146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9B9B42-B93B-4540-94A0-2B3B02145ED8}"/>
              </a:ext>
            </a:extLst>
          </p:cNvPr>
          <p:cNvSpPr>
            <a:spLocks noGrp="1"/>
          </p:cNvSpPr>
          <p:nvPr/>
        </p:nvSpPr>
        <p:spPr>
          <a:xfrm>
            <a:off x="4476750" y="27527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Residual scale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EC5012D-2C87-437B-B57C-B7244CFB858D}"/>
              </a:ext>
            </a:extLst>
          </p:cNvPr>
          <p:cNvSpPr>
            <a:spLocks noGrp="1"/>
          </p:cNvSpPr>
          <p:nvPr/>
        </p:nvSpPr>
        <p:spPr>
          <a:xfrm>
            <a:off x="6760845" y="27527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0.05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ACB1D3E-6527-41E2-ADCD-22EE88314154}"/>
              </a:ext>
            </a:extLst>
          </p:cNvPr>
          <p:cNvSpPr>
            <a:spLocks noGrp="1"/>
          </p:cNvSpPr>
          <p:nvPr/>
        </p:nvSpPr>
        <p:spPr>
          <a:xfrm>
            <a:off x="4476750" y="31527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Popularity decay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ACAC00F-9E51-4584-8FBF-4FEA647C9AF0}"/>
              </a:ext>
            </a:extLst>
          </p:cNvPr>
          <p:cNvSpPr>
            <a:spLocks noGrp="1"/>
          </p:cNvSpPr>
          <p:nvPr/>
        </p:nvSpPr>
        <p:spPr>
          <a:xfrm>
            <a:off x="6760845" y="31527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9E5275B-7548-4A38-842C-8148D2C070FA}"/>
              </a:ext>
            </a:extLst>
          </p:cNvPr>
          <p:cNvSpPr>
            <a:spLocks noGrp="1"/>
          </p:cNvSpPr>
          <p:nvPr/>
        </p:nvSpPr>
        <p:spPr>
          <a:xfrm>
            <a:off x="4400550" y="35147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3755D81-C43A-4F69-A150-93A53ACD1D8B}"/>
              </a:ext>
            </a:extLst>
          </p:cNvPr>
          <p:cNvSpPr>
            <a:spLocks noGrp="1"/>
          </p:cNvSpPr>
          <p:nvPr/>
        </p:nvSpPr>
        <p:spPr>
          <a:xfrm>
            <a:off x="4476750" y="35528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Cache capacity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F6FE8C7-5F06-4164-AA34-41B2EF5E154C}"/>
              </a:ext>
            </a:extLst>
          </p:cNvPr>
          <p:cNvSpPr>
            <a:spLocks noGrp="1"/>
          </p:cNvSpPr>
          <p:nvPr/>
        </p:nvSpPr>
        <p:spPr>
          <a:xfrm>
            <a:off x="6760845" y="35528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C24464E-9965-4A94-92C1-4400988DAE1B}"/>
              </a:ext>
            </a:extLst>
          </p:cNvPr>
          <p:cNvSpPr>
            <a:spLocks noGrp="1"/>
          </p:cNvSpPr>
          <p:nvPr/>
        </p:nvSpPr>
        <p:spPr>
          <a:xfrm>
            <a:off x="4476750" y="39528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Shortlist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D4F8B43-589F-490F-8712-533615A6FDE6}"/>
              </a:ext>
            </a:extLst>
          </p:cNvPr>
          <p:cNvSpPr>
            <a:spLocks noGrp="1"/>
          </p:cNvSpPr>
          <p:nvPr/>
        </p:nvSpPr>
        <p:spPr>
          <a:xfrm>
            <a:off x="6760845" y="39528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9C62681-A21E-4A0F-9769-CEB19ADA0497}"/>
              </a:ext>
            </a:extLst>
          </p:cNvPr>
          <p:cNvSpPr>
            <a:spLocks noGrp="1"/>
          </p:cNvSpPr>
          <p:nvPr/>
        </p:nvSpPr>
        <p:spPr>
          <a:xfrm>
            <a:off x="4400550" y="43148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F5D041-0241-4E99-A6F7-8EA73865C111}"/>
              </a:ext>
            </a:extLst>
          </p:cNvPr>
          <p:cNvSpPr>
            <a:spLocks noGrp="1"/>
          </p:cNvSpPr>
          <p:nvPr/>
        </p:nvSpPr>
        <p:spPr>
          <a:xfrm>
            <a:off x="4476750" y="43529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Bypass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50A6F2-9895-4CC2-8867-91D954910313}"/>
              </a:ext>
            </a:extLst>
          </p:cNvPr>
          <p:cNvSpPr>
            <a:spLocks noGrp="1"/>
          </p:cNvSpPr>
          <p:nvPr/>
        </p:nvSpPr>
        <p:spPr>
          <a:xfrm>
            <a:off x="6760845" y="43529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disabled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F0E3BE-7FC2-4919-9B98-0E4AC14C9B89}"/>
              </a:ext>
            </a:extLst>
          </p:cNvPr>
          <p:cNvSpPr>
            <a:spLocks noGrp="1"/>
          </p:cNvSpPr>
          <p:nvPr/>
        </p:nvSpPr>
        <p:spPr>
          <a:xfrm>
            <a:off x="4476750" y="47529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Packet size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8594167-7849-42E6-AEE8-39B199CEC2C7}"/>
              </a:ext>
            </a:extLst>
          </p:cNvPr>
          <p:cNvSpPr>
            <a:spLocks noGrp="1"/>
          </p:cNvSpPr>
          <p:nvPr/>
        </p:nvSpPr>
        <p:spPr>
          <a:xfrm>
            <a:off x="6760845" y="47529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 unit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D8BEEF2-47AF-4730-8E12-CC3E08891967}"/>
              </a:ext>
            </a:extLst>
          </p:cNvPr>
          <p:cNvSpPr>
            <a:spLocks noGrp="1"/>
          </p:cNvSpPr>
          <p:nvPr/>
        </p:nvSpPr>
        <p:spPr>
          <a:xfrm>
            <a:off x="8248650" y="1457325"/>
            <a:ext cx="3371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F498158F-0A91-429E-AC21-7AA4FA360291}"/>
              </a:ext>
            </a:extLst>
          </p:cNvPr>
          <p:cNvSpPr>
            <a:spLocks noGrp="1"/>
          </p:cNvSpPr>
          <p:nvPr/>
        </p:nvSpPr>
        <p:spPr>
          <a:xfrm>
            <a:off x="8248650" y="1819275"/>
            <a:ext cx="33718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50B1C16-A68C-44E4-826D-3A8CF9C40947}"/>
              </a:ext>
            </a:extLst>
          </p:cNvPr>
          <p:cNvSpPr>
            <a:spLocks noGrp="1"/>
          </p:cNvSpPr>
          <p:nvPr/>
        </p:nvSpPr>
        <p:spPr>
          <a:xfrm>
            <a:off x="8248650" y="19145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6B65140-EE92-4C5B-BCDE-11AB834BE330}"/>
              </a:ext>
            </a:extLst>
          </p:cNvPr>
          <p:cNvSpPr>
            <a:spLocks noGrp="1"/>
          </p:cNvSpPr>
          <p:nvPr/>
        </p:nvSpPr>
        <p:spPr>
          <a:xfrm>
            <a:off x="8324850" y="19526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Prediction horizon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FF4A6CD-5FDA-4AF0-8986-B799FC82CFC9}"/>
              </a:ext>
            </a:extLst>
          </p:cNvPr>
          <p:cNvSpPr>
            <a:spLocks noGrp="1"/>
          </p:cNvSpPr>
          <p:nvPr/>
        </p:nvSpPr>
        <p:spPr>
          <a:xfrm>
            <a:off x="10608945" y="19526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9A7B7C1-A03D-499A-AFA0-0289F6FF4199}"/>
              </a:ext>
            </a:extLst>
          </p:cNvPr>
          <p:cNvSpPr>
            <a:spLocks noGrp="1"/>
          </p:cNvSpPr>
          <p:nvPr/>
        </p:nvSpPr>
        <p:spPr>
          <a:xfrm>
            <a:off x="8324850" y="23526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Pretraining epochs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14C5E6F-6582-4287-AE59-530F5B904CC5}"/>
              </a:ext>
            </a:extLst>
          </p:cNvPr>
          <p:cNvSpPr>
            <a:spLocks noGrp="1"/>
          </p:cNvSpPr>
          <p:nvPr/>
        </p:nvSpPr>
        <p:spPr>
          <a:xfrm>
            <a:off x="10608945" y="23526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6B61FAE-9F82-498A-AEF7-72CD68F60862}"/>
              </a:ext>
            </a:extLst>
          </p:cNvPr>
          <p:cNvSpPr>
            <a:spLocks noGrp="1"/>
          </p:cNvSpPr>
          <p:nvPr/>
        </p:nvSpPr>
        <p:spPr>
          <a:xfrm>
            <a:off x="8248650" y="27146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C0BD54B-49C8-4B9D-9552-297A45B6A4A1}"/>
              </a:ext>
            </a:extLst>
          </p:cNvPr>
          <p:cNvSpPr>
            <a:spLocks noGrp="1"/>
          </p:cNvSpPr>
          <p:nvPr/>
        </p:nvSpPr>
        <p:spPr>
          <a:xfrm>
            <a:off x="8324850" y="27527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Pretraining LR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D9F140F-A9A5-4280-A027-E80AA27D35AA}"/>
              </a:ext>
            </a:extLst>
          </p:cNvPr>
          <p:cNvSpPr>
            <a:spLocks noGrp="1"/>
          </p:cNvSpPr>
          <p:nvPr/>
        </p:nvSpPr>
        <p:spPr>
          <a:xfrm>
            <a:off x="10608945" y="27527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0.001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02A967A-75E8-4A4D-9B89-317FF1E51838}"/>
              </a:ext>
            </a:extLst>
          </p:cNvPr>
          <p:cNvSpPr>
            <a:spLocks noGrp="1"/>
          </p:cNvSpPr>
          <p:nvPr/>
        </p:nvSpPr>
        <p:spPr>
          <a:xfrm>
            <a:off x="8324850" y="31527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RL epochs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E0C6933-FCC2-45AC-A74D-BFA55DC5E46B}"/>
              </a:ext>
            </a:extLst>
          </p:cNvPr>
          <p:cNvSpPr>
            <a:spLocks noGrp="1"/>
          </p:cNvSpPr>
          <p:nvPr/>
        </p:nvSpPr>
        <p:spPr>
          <a:xfrm>
            <a:off x="10608945" y="31527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670C7949-90D6-4304-AD64-00177E7A8CC6}"/>
              </a:ext>
            </a:extLst>
          </p:cNvPr>
          <p:cNvSpPr>
            <a:spLocks noGrp="1"/>
          </p:cNvSpPr>
          <p:nvPr/>
        </p:nvSpPr>
        <p:spPr>
          <a:xfrm>
            <a:off x="8248650" y="35147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72CB7CB-B02F-43A1-B7FB-0B29EFE307DF}"/>
              </a:ext>
            </a:extLst>
          </p:cNvPr>
          <p:cNvSpPr>
            <a:spLocks noGrp="1"/>
          </p:cNvSpPr>
          <p:nvPr/>
        </p:nvSpPr>
        <p:spPr>
          <a:xfrm>
            <a:off x="8324850" y="35528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RL LR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A2B5E0C-229B-423A-B646-7BA4A4B164D8}"/>
              </a:ext>
            </a:extLst>
          </p:cNvPr>
          <p:cNvSpPr>
            <a:spLocks noGrp="1"/>
          </p:cNvSpPr>
          <p:nvPr/>
        </p:nvSpPr>
        <p:spPr>
          <a:xfrm>
            <a:off x="10608945" y="35528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0.0001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6B0847B-6C48-4A82-8307-6EA756E7EE60}"/>
              </a:ext>
            </a:extLst>
          </p:cNvPr>
          <p:cNvSpPr>
            <a:spLocks noGrp="1"/>
          </p:cNvSpPr>
          <p:nvPr/>
        </p:nvSpPr>
        <p:spPr>
          <a:xfrm>
            <a:off x="8324850" y="39528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Gamma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6835BA6-4BD4-4A3C-8DEB-F1F024D81129}"/>
              </a:ext>
            </a:extLst>
          </p:cNvPr>
          <p:cNvSpPr>
            <a:spLocks noGrp="1"/>
          </p:cNvSpPr>
          <p:nvPr/>
        </p:nvSpPr>
        <p:spPr>
          <a:xfrm>
            <a:off x="10608945" y="39528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0.97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DEFB4AB-A999-4559-AA1A-207F24547DAC}"/>
              </a:ext>
            </a:extLst>
          </p:cNvPr>
          <p:cNvSpPr>
            <a:spLocks noGrp="1"/>
          </p:cNvSpPr>
          <p:nvPr/>
        </p:nvSpPr>
        <p:spPr>
          <a:xfrm>
            <a:off x="8248650" y="43148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D7289D0-0590-43FF-8DC8-15839BD11D9E}"/>
              </a:ext>
            </a:extLst>
          </p:cNvPr>
          <p:cNvSpPr>
            <a:spLocks noGrp="1"/>
          </p:cNvSpPr>
          <p:nvPr/>
        </p:nvSpPr>
        <p:spPr>
          <a:xfrm>
            <a:off x="8324850" y="43529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ADFF825-1A89-4D43-854E-D845CD55F291}"/>
              </a:ext>
            </a:extLst>
          </p:cNvPr>
          <p:cNvSpPr>
            <a:spLocks noGrp="1"/>
          </p:cNvSpPr>
          <p:nvPr/>
        </p:nvSpPr>
        <p:spPr>
          <a:xfrm>
            <a:off x="10608945" y="43529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85148A5-6317-47C5-8313-5F965E2072E8}"/>
              </a:ext>
            </a:extLst>
          </p:cNvPr>
          <p:cNvSpPr>
            <a:spLocks noGrp="1"/>
          </p:cNvSpPr>
          <p:nvPr/>
        </p:nvSpPr>
        <p:spPr>
          <a:xfrm>
            <a:off x="8324850" y="475297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118D6FA-1D4B-4336-B90F-710964FA5AC5}"/>
              </a:ext>
            </a:extLst>
          </p:cNvPr>
          <p:cNvSpPr>
            <a:spLocks noGrp="1"/>
          </p:cNvSpPr>
          <p:nvPr/>
        </p:nvSpPr>
        <p:spPr>
          <a:xfrm>
            <a:off x="10608945" y="475297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0.3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8FBD15F-CF75-4FD5-B0B2-991D81F9AEBA}"/>
              </a:ext>
            </a:extLst>
          </p:cNvPr>
          <p:cNvSpPr>
            <a:spLocks noGrp="1"/>
          </p:cNvSpPr>
          <p:nvPr/>
        </p:nvSpPr>
        <p:spPr>
          <a:xfrm>
            <a:off x="8248650" y="5114925"/>
            <a:ext cx="3371850" cy="342900"/>
          </a:xfrm>
          <a:prstGeom prst="roundRect">
            <a:avLst>
              <a:gd name="adj" fmla="val 11111"/>
            </a:avLst>
          </a:prstGeom>
          <a:solidFill>
            <a:srgbClr val="0B203B"/>
          </a:solidFill>
          <a:ln w="9525">
            <a:solidFill>
              <a:srgbClr val="0B203B"/>
            </a:solidFill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999040B-1D03-4BD3-9D70-2F1B68EF0C16}"/>
              </a:ext>
            </a:extLst>
          </p:cNvPr>
          <p:cNvSpPr>
            <a:spLocks noGrp="1"/>
          </p:cNvSpPr>
          <p:nvPr/>
        </p:nvSpPr>
        <p:spPr>
          <a:xfrm>
            <a:off x="8324850" y="5153025"/>
            <a:ext cx="229285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B7C5D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B7C5D6"/>
                </a:solidFill>
                <a:latin typeface="Aptos"/>
                <a:ea typeface="Aptos"/>
                <a:cs typeface="Aptos"/>
              </a:rPr>
              <a:t>Entropy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E4B047B-5868-404A-A35D-3A481CF69B4B}"/>
              </a:ext>
            </a:extLst>
          </p:cNvPr>
          <p:cNvSpPr>
            <a:spLocks noGrp="1"/>
          </p:cNvSpPr>
          <p:nvPr/>
        </p:nvSpPr>
        <p:spPr>
          <a:xfrm>
            <a:off x="10608945" y="5153025"/>
            <a:ext cx="91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98776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C530E90-EAC2-463F-9483-528A92AFC1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8C2B5"/>
          </a:solidFill>
          <a:ln w="9525">
            <a:solidFill>
              <a:srgbClr val="18C2B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E6949C-819F-44D5-9B1A-BED562E52A85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APPENDIX · TECHNICAL REFERENCE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EF1411-8E85-4CB9-9846-18B8F1EA9F5E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4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Inference pseudocode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247BA0-97DA-4604-96D7-46A65E95EB96}"/>
              </a:ext>
            </a:extLst>
          </p:cNvPr>
          <p:cNvSpPr>
            <a:spLocks noGrp="1"/>
          </p:cNvSpPr>
          <p:nvPr/>
        </p:nvSpPr>
        <p:spPr>
          <a:xfrm>
            <a:off x="11144250" y="5143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18C2B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8C2B5"/>
                </a:solidFill>
                <a:latin typeface="Aptos"/>
                <a:ea typeface="Aptos"/>
                <a:cs typeface="Aptos"/>
              </a:rPr>
              <a:t>A2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D33B800-9B7C-4A05-899C-17874E867FBC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11087100" cy="0"/>
          </a:xfrm>
          <a:prstGeom prst="line">
            <a:avLst/>
          </a:prstGeom>
          <a:noFill/>
          <a:ln w="9525">
            <a:solidFill>
              <a:srgbClr val="2944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876EBF-16AD-484A-ADA1-111816066E2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UNIVERSITY OF TEHRAN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0DBFFF1-0693-4DFE-A878-9F316320D8C6}"/>
              </a:ext>
            </a:extLst>
          </p:cNvPr>
          <p:cNvSpPr>
            <a:spLocks noGrp="1"/>
          </p:cNvSpPr>
          <p:nvPr/>
        </p:nvSpPr>
        <p:spPr>
          <a:xfrm>
            <a:off x="10287000" y="6629400"/>
            <a:ext cx="1352550" cy="0"/>
          </a:xfrm>
          <a:prstGeom prst="line">
            <a:avLst/>
          </a:prstGeom>
          <a:noFill/>
          <a:ln w="28575">
            <a:solidFill>
              <a:srgbClr val="18C2B5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BA83EF-D0A3-4786-9406-4ECF3B72A910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8343900" cy="4876800"/>
          </a:xfrm>
          <a:prstGeom prst="roundRect">
            <a:avLst>
              <a:gd name="adj" fmla="val 2344"/>
            </a:avLst>
          </a:prstGeom>
          <a:solidFill>
            <a:srgbClr val="061222"/>
          </a:solidFill>
          <a:ln w="14288">
            <a:solidFill>
              <a:srgbClr val="29445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3D274D-8CC3-4E83-8BEE-021A6C68D271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77724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 err="1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on_interest</a:t>
            </a: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(router v, Interest I):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update local request statistics and LSTM history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if fresh matching Data exists in local cache: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reward(v) = 1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return Data</a:t>
            </a:r>
          </a:p>
          <a:p>
            <a:endParaRPr sz="1350" b="0" i="0" dirty="0">
              <a:solidFill>
                <a:srgbClr val="F8FAFC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reward(v) = 0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forward Interest toward producer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Data = receive upstream response</a:t>
            </a:r>
          </a:p>
          <a:p>
            <a:endParaRPr sz="1350" b="0" i="0" dirty="0">
              <a:solidFill>
                <a:srgbClr val="F8FAFC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if cache has free capacity: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insert Data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else: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candidates = 8 least-recently-used residents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score each candidate with model(...) 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victim = candidate with minimum score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evict victim; insert Data</a:t>
            </a:r>
          </a:p>
          <a:p>
            <a:endParaRPr sz="1350" b="0" i="0" dirty="0">
              <a:solidFill>
                <a:srgbClr val="F8FAFC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finish complete Interest/Data transaction</a:t>
            </a:r>
          </a:p>
          <a:p>
            <a:pPr algn="l">
              <a:lnSpc>
                <a:spcPct val="103000"/>
              </a:lnSpc>
              <a:buNone/>
              <a:defRPr sz="1350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1350" b="0" i="0" dirty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apply pending training update if required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0C5290-9337-4198-AD7C-C2B24BD19484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305050" cy="1257300"/>
          </a:xfrm>
          <a:prstGeom prst="roundRect">
            <a:avLst>
              <a:gd name="adj" fmla="val 9091"/>
            </a:avLst>
          </a:prstGeom>
          <a:solidFill>
            <a:srgbClr val="102A4C"/>
          </a:solidFill>
          <a:ln w="19050">
            <a:solidFill>
              <a:srgbClr val="18C2B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8EEBC6-8310-44B0-9F96-4B26EE983E99}"/>
              </a:ext>
            </a:extLst>
          </p:cNvPr>
          <p:cNvSpPr>
            <a:spLocks noGrp="1"/>
          </p:cNvSpPr>
          <p:nvPr/>
        </p:nvSpPr>
        <p:spPr>
          <a:xfrm>
            <a:off x="9505950" y="18383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00" b="1" i="0" dirty="0">
                <a:solidFill>
                  <a:srgbClr val="22C55E"/>
                </a:solidFill>
                <a:latin typeface="Aptos"/>
                <a:ea typeface="Aptos"/>
                <a:cs typeface="Aptos"/>
              </a:rPr>
              <a:t>HIT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A061A2-FDC7-43ED-A994-165D04675944}"/>
              </a:ext>
            </a:extLst>
          </p:cNvPr>
          <p:cNvSpPr>
            <a:spLocks noGrp="1"/>
          </p:cNvSpPr>
          <p:nvPr/>
        </p:nvSpPr>
        <p:spPr>
          <a:xfrm>
            <a:off x="9505950" y="2219325"/>
            <a:ext cx="1924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42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return immediately</a:t>
            </a:r>
          </a:p>
          <a:p>
            <a:pPr algn="ctr">
              <a:lnSpc>
                <a:spcPct val="100000"/>
              </a:lnSpc>
              <a:buNone/>
              <a:defRPr sz="142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reward = 1</a:t>
            </a:r>
          </a:p>
          <a:p>
            <a:pPr algn="ctr">
              <a:lnSpc>
                <a:spcPct val="100000"/>
              </a:lnSpc>
              <a:buNone/>
              <a:defRPr sz="142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no scoring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781079-8926-4D3A-BAB6-A0B62467BE68}"/>
              </a:ext>
            </a:extLst>
          </p:cNvPr>
          <p:cNvSpPr>
            <a:spLocks noGrp="1"/>
          </p:cNvSpPr>
          <p:nvPr/>
        </p:nvSpPr>
        <p:spPr>
          <a:xfrm>
            <a:off x="9315450" y="3867150"/>
            <a:ext cx="2305050" cy="1695450"/>
          </a:xfrm>
          <a:prstGeom prst="roundRect">
            <a:avLst>
              <a:gd name="adj" fmla="val 6742"/>
            </a:avLst>
          </a:prstGeom>
          <a:solidFill>
            <a:srgbClr val="102A4C"/>
          </a:solidFill>
          <a:ln w="19050">
            <a:solidFill>
              <a:srgbClr val="7C5CF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86E7A3-B9C3-4B70-B084-138EC268C875}"/>
              </a:ext>
            </a:extLst>
          </p:cNvPr>
          <p:cNvSpPr>
            <a:spLocks noGrp="1"/>
          </p:cNvSpPr>
          <p:nvPr/>
        </p:nvSpPr>
        <p:spPr>
          <a:xfrm>
            <a:off x="9505950" y="4038600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A899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A899FF"/>
                </a:solidFill>
                <a:latin typeface="Aptos"/>
                <a:ea typeface="Aptos"/>
                <a:cs typeface="Aptos"/>
              </a:rPr>
              <a:t>FULL-CACHE MISS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972A03-A307-4E5A-A9A4-1760328EF733}"/>
              </a:ext>
            </a:extLst>
          </p:cNvPr>
          <p:cNvSpPr>
            <a:spLocks noGrp="1"/>
          </p:cNvSpPr>
          <p:nvPr/>
        </p:nvSpPr>
        <p:spPr>
          <a:xfrm>
            <a:off x="9505950" y="4495800"/>
            <a:ext cx="19240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42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shortlist 8</a:t>
            </a:r>
          </a:p>
          <a:p>
            <a:pPr algn="ctr">
              <a:lnSpc>
                <a:spcPct val="100000"/>
              </a:lnSpc>
              <a:buNone/>
              <a:defRPr sz="142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score residents</a:t>
            </a:r>
          </a:p>
          <a:p>
            <a:pPr algn="ctr">
              <a:lnSpc>
                <a:spcPct val="100000"/>
              </a:lnSpc>
              <a:buNone/>
              <a:defRPr sz="142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evict arg min sᵢ</a:t>
            </a:r>
          </a:p>
          <a:p>
            <a:pPr algn="ctr">
              <a:lnSpc>
                <a:spcPct val="100000"/>
              </a:lnSpc>
              <a:buNone/>
              <a:defRPr sz="142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insert returning Data</a:t>
            </a:r>
          </a:p>
        </p:txBody>
      </p:sp>
    </p:spTree>
    <p:extLst>
      <p:ext uri="{BB962C8B-B14F-4D97-AF65-F5344CB8AC3E}">
        <p14:creationId xmlns:p14="http://schemas.microsoft.com/office/powerpoint/2010/main" val="13247226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1068</Words>
  <Application>Microsoft Office PowerPoint</Application>
  <DocSecurity>0</DocSecurity>
  <PresentationFormat>Widescreen</PresentationFormat>
  <Paragraphs>406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Amin Kasiri</cp:lastModifiedBy>
  <cp:revision>17</cp:revision>
  <dcterms:created xsi:type="dcterms:W3CDTF">2026-08-04T10:52:07Z</dcterms:created>
  <dcterms:modified xsi:type="dcterms:W3CDTF">2026-08-05T07:37:40Z</dcterms:modified>
</cp:coreProperties>
</file>